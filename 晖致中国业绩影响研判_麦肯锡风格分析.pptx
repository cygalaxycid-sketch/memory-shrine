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29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686800" y="0"/>
            <a:ext cx="3504895" cy="6858000"/>
          </a:xfrm>
          <a:prstGeom prst="rect">
            <a:avLst/>
          </a:prstGeom>
          <a:solidFill>
            <a:srgbClr val="006B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686800" y="0"/>
            <a:ext cx="73152" cy="6858000"/>
          </a:xfrm>
          <a:prstGeom prst="rect">
            <a:avLst/>
          </a:prstGeom>
          <a:solidFill>
            <a:srgbClr val="E871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45720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CFE2F3"/>
                </a:solidFill>
                <a:latin typeface="微软雅黑"/>
              </a:rPr>
              <a:t>CONFIDENTIAL  |  医药行业研究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828800"/>
            <a:ext cx="777240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微软雅黑"/>
              </a:rPr>
              <a:t>医保新政下过专利原研药市场重构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926080"/>
            <a:ext cx="777240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0">
                <a:solidFill>
                  <a:srgbClr val="CFE2F3"/>
                </a:solidFill>
                <a:latin typeface="微软雅黑"/>
              </a:rPr>
              <a:t>——对晖致 (Viatris) 中国业绩影响研判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4160520"/>
            <a:ext cx="548640" cy="45720"/>
          </a:xfrm>
          <a:prstGeom prst="rect">
            <a:avLst/>
          </a:prstGeom>
          <a:solidFill>
            <a:srgbClr val="E871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4297680"/>
            <a:ext cx="777240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微软雅黑"/>
              </a:rPr>
              <a:t>聚焦 2024–2026 年国家医保局对非集采原研药</a:t>
            </a:r>
          </a:p>
          <a:p>
            <a:pPr algn="l"/>
            <a:r>
              <a:rPr sz="1400" b="0">
                <a:solidFill>
                  <a:srgbClr val="FFFFFF"/>
                </a:solidFill>
                <a:latin typeface="微软雅黑"/>
              </a:rPr>
              <a:t>的政策松绑（医院端配备+定额支付+双通道）</a:t>
            </a:r>
          </a:p>
          <a:p>
            <a:pPr algn="l"/>
            <a:r>
              <a:rPr sz="1400" b="0">
                <a:solidFill>
                  <a:srgbClr val="FFFFFF"/>
                </a:solidFill>
                <a:latin typeface="微软雅黑"/>
              </a:rPr>
              <a:t>对外资过专利原研巨头的多情景量化研判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594360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CFE2F3"/>
                </a:solidFill>
                <a:latin typeface="微软雅黑"/>
              </a:rPr>
              <a:t>战略与政策分析专题  |  2026 年 5 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69680" y="5943600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1">
                <a:solidFill>
                  <a:srgbClr val="FFFFFF"/>
                </a:solidFill>
                <a:latin typeface="Calibri"/>
              </a:rPr>
              <a:t>Prepared by Strategy Analytics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29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B7B7B7"/>
                </a:solidFill>
                <a:latin typeface="微软雅黑"/>
              </a:rPr>
              <a:t>晖致中国业绩影响研判  |  医保新政分析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24160" y="164592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B7B7B7"/>
                </a:solidFill>
                <a:latin typeface="微软雅黑"/>
              </a:rPr>
              <a:t>2 / 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411480"/>
            <a:ext cx="115214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00295B"/>
                </a:solidFill>
                <a:latin typeface="微软雅黑"/>
              </a:rPr>
              <a:t>核心观点：政策窗口期已开启，晖致中国基本盘从「失血」转向「结构性企稳+品牌溢价回收」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886968"/>
            <a:ext cx="115214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  <a:latin typeface="微软雅黑"/>
              </a:rPr>
              <a:t>三大政策合力 → 院内外渠道重构 → 晖致中国2026–2028 年收入CAGR 区间 +2% ~ +6%（基准 +4%）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365760" y="1207008"/>
            <a:ext cx="11457432" cy="0"/>
          </a:xfrm>
          <a:prstGeom prst="line">
            <a:avLst/>
          </a:prstGeom>
          <a:ln w="15875">
            <a:solidFill>
              <a:srgbClr val="0029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365760" y="6537960"/>
            <a:ext cx="1463040" cy="22860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6537960"/>
            <a:ext cx="146304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50" b="1">
                <a:solidFill>
                  <a:srgbClr val="595959"/>
                </a:solidFill>
                <a:latin typeface="微软雅黑"/>
              </a:rPr>
              <a:t>1. 政策背景</a:t>
            </a:r>
          </a:p>
        </p:txBody>
      </p:sp>
      <p:sp>
        <p:nvSpPr>
          <p:cNvPr id="10" name="Rectangle 9"/>
          <p:cNvSpPr/>
          <p:nvPr/>
        </p:nvSpPr>
        <p:spPr>
          <a:xfrm>
            <a:off x="1920240" y="6537960"/>
            <a:ext cx="1463040" cy="22860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920240" y="6537960"/>
            <a:ext cx="146304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50" b="1">
                <a:solidFill>
                  <a:srgbClr val="595959"/>
                </a:solidFill>
                <a:latin typeface="微软雅黑"/>
              </a:rPr>
              <a:t>2. 新政详解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474720" y="6537960"/>
            <a:ext cx="1463040" cy="22860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74720" y="6537960"/>
            <a:ext cx="146304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50" b="1">
                <a:solidFill>
                  <a:srgbClr val="595959"/>
                </a:solidFill>
                <a:latin typeface="微软雅黑"/>
              </a:rPr>
              <a:t>3. 市场影响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0" y="6537960"/>
            <a:ext cx="1463040" cy="22860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0" y="6537960"/>
            <a:ext cx="146304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50" b="1">
                <a:solidFill>
                  <a:srgbClr val="595959"/>
                </a:solidFill>
                <a:latin typeface="微软雅黑"/>
              </a:rPr>
              <a:t>4. 晖致研判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583680" y="6537960"/>
            <a:ext cx="1463040" cy="22860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0" y="6537960"/>
            <a:ext cx="146304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50" b="1">
                <a:solidFill>
                  <a:srgbClr val="595959"/>
                </a:solidFill>
                <a:latin typeface="微软雅黑"/>
              </a:rPr>
              <a:t>5. 战略启示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0" y="6565392"/>
            <a:ext cx="18288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0">
                <a:solidFill>
                  <a:srgbClr val="B7B7B7"/>
                </a:solidFill>
                <a:latin typeface="微软雅黑"/>
              </a:rPr>
              <a:t>麦肯锡风格分析框架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" y="1463040"/>
            <a:ext cx="3749039" cy="502920"/>
          </a:xfrm>
          <a:prstGeom prst="rect">
            <a:avLst/>
          </a:prstGeom>
          <a:solidFill>
            <a:srgbClr val="0029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5760" y="1463040"/>
            <a:ext cx="3749039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微软雅黑"/>
              </a:rPr>
              <a:t>1  政策松绑信号明确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1965960"/>
            <a:ext cx="3749039" cy="370332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48640" y="2103120"/>
            <a:ext cx="3383279" cy="3566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  <a:latin typeface="微软雅黑"/>
              </a:rPr>
              <a:t>• 2025/7《支持创新药高质量发展若干措施》打通医院配备</a:t>
            </a:r>
          </a:p>
          <a:p>
            <a:pPr algn="l"/>
            <a:r>
              <a:rPr sz="1100" b="0">
                <a:solidFill>
                  <a:srgbClr val="595959"/>
                </a:solidFill>
                <a:latin typeface="微软雅黑"/>
              </a:rPr>
              <a:t>• 上海率先落地「定额报销」：医保按集采中选价封顶、</a:t>
            </a:r>
          </a:p>
          <a:p>
            <a:pPr algn="l"/>
            <a:r>
              <a:rPr sz="1100" b="0">
                <a:solidFill>
                  <a:srgbClr val="595959"/>
                </a:solidFill>
                <a:latin typeface="微软雅黑"/>
              </a:rPr>
              <a:t>  超出由患者自付，原研药可回流公立医院</a:t>
            </a:r>
          </a:p>
          <a:p>
            <a:pPr algn="l"/>
            <a:r>
              <a:rPr sz="1100" b="0">
                <a:solidFill>
                  <a:srgbClr val="595959"/>
                </a:solidFill>
                <a:latin typeface="微软雅黑"/>
              </a:rPr>
              <a:t>• 2025 双通道目录扩容到 3,253 个品种，明确电子处方流转</a:t>
            </a:r>
          </a:p>
          <a:p>
            <a:pPr algn="l"/>
            <a:r>
              <a:rPr sz="1100" b="0">
                <a:solidFill>
                  <a:srgbClr val="595959"/>
                </a:solidFill>
                <a:latin typeface="微软雅黑"/>
              </a:rPr>
              <a:t>• 一品两规放宽 → 同通用名可同时配中选+原研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343399" y="1463040"/>
            <a:ext cx="3749039" cy="502920"/>
          </a:xfrm>
          <a:prstGeom prst="rect">
            <a:avLst/>
          </a:prstGeom>
          <a:solidFill>
            <a:srgbClr val="006B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343399" y="1463040"/>
            <a:ext cx="3749039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微软雅黑"/>
              </a:rPr>
              <a:t>2  晖致基本盘正在企稳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343399" y="1965960"/>
            <a:ext cx="3749039" cy="370332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26279" y="2103120"/>
            <a:ext cx="3383279" cy="3566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  <a:latin typeface="微软雅黑"/>
              </a:rPr>
              <a:t>• 大中华区 2024 收入 21.67 亿美元，逆全球下滑实现 +2% YoY</a:t>
            </a:r>
          </a:p>
          <a:p>
            <a:pPr algn="l"/>
            <a:r>
              <a:rPr sz="1100" b="0">
                <a:solidFill>
                  <a:srgbClr val="595959"/>
                </a:solidFill>
                <a:latin typeface="微软雅黑"/>
              </a:rPr>
              <a:t>• 2025 Q2 中国区单季 5.89 亿美元、同比 +9%</a:t>
            </a:r>
          </a:p>
          <a:p>
            <a:pPr algn="l"/>
            <a:r>
              <a:rPr sz="1100" b="0">
                <a:solidFill>
                  <a:srgbClr val="595959"/>
                </a:solidFill>
                <a:latin typeface="微软雅黑"/>
              </a:rPr>
              <a:t>• 立普妥、络活喜、万艾可三大原研仍居公司全球品牌药 TOP 5</a:t>
            </a:r>
          </a:p>
          <a:p>
            <a:pPr algn="l"/>
            <a:r>
              <a:rPr sz="1100" b="0">
                <a:solidFill>
                  <a:srgbClr val="595959"/>
                </a:solidFill>
                <a:latin typeface="微软雅黑"/>
              </a:rPr>
              <a:t>• 集采价格冲击已基本出清（4–9 批均已落地）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321038" y="1463040"/>
            <a:ext cx="3749039" cy="502920"/>
          </a:xfrm>
          <a:prstGeom prst="rect">
            <a:avLst/>
          </a:prstGeom>
          <a:solidFill>
            <a:srgbClr val="E871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321038" y="1463040"/>
            <a:ext cx="3749039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微软雅黑"/>
              </a:rPr>
              <a:t>3  量化研判：基准+4% CAGR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321038" y="1965960"/>
            <a:ext cx="3749039" cy="370332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503918" y="2103120"/>
            <a:ext cx="3383279" cy="3566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  <a:latin typeface="微软雅黑"/>
              </a:rPr>
              <a:t>• 院内端：定额支付下市占回升 3–5 pp，弥补价格压力</a:t>
            </a:r>
          </a:p>
          <a:p>
            <a:pPr algn="l"/>
            <a:r>
              <a:rPr sz="1100" b="0">
                <a:solidFill>
                  <a:srgbClr val="595959"/>
                </a:solidFill>
                <a:latin typeface="微软雅黑"/>
              </a:rPr>
              <a:t>• 院外端：DTP 药房+双通道贡献 25–30% 渠道占比</a:t>
            </a:r>
          </a:p>
          <a:p>
            <a:pPr algn="l"/>
            <a:r>
              <a:rPr sz="1100" b="0">
                <a:solidFill>
                  <a:srgbClr val="595959"/>
                </a:solidFill>
                <a:latin typeface="微软雅黑"/>
              </a:rPr>
              <a:t>• 风险：DRG/DIP 控费、医保飞检、商保扩容速度低预期</a:t>
            </a:r>
          </a:p>
          <a:p>
            <a:pPr algn="l"/>
            <a:r>
              <a:rPr sz="1100" b="0">
                <a:solidFill>
                  <a:srgbClr val="595959"/>
                </a:solidFill>
                <a:latin typeface="微软雅黑"/>
              </a:rPr>
              <a:t>• 三大情景：保守 +2% / 基准 +4% / 乐观 +6% CAGR (2026–28)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65760" y="5806440"/>
            <a:ext cx="548640" cy="411480"/>
          </a:xfrm>
          <a:prstGeom prst="rect">
            <a:avLst/>
          </a:prstGeom>
          <a:solidFill>
            <a:srgbClr val="E871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65760" y="5806440"/>
            <a:ext cx="54864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微软雅黑"/>
              </a:rPr>
              <a:t>SO</a:t>
            </a:r>
          </a:p>
          <a:p>
            <a:pPr algn="ctr"/>
            <a:r>
              <a:rPr sz="900" b="1">
                <a:solidFill>
                  <a:srgbClr val="FFFFFF"/>
                </a:solidFill>
                <a:latin typeface="微软雅黑"/>
              </a:rPr>
              <a:t>WHAT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14400" y="5806440"/>
            <a:ext cx="10881360" cy="411480"/>
          </a:xfrm>
          <a:prstGeom prst="rect">
            <a:avLst/>
          </a:prstGeom>
          <a:solidFill>
            <a:srgbClr val="0029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97280" y="5806440"/>
            <a:ext cx="106984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FFFFFF"/>
                </a:solidFill>
                <a:latin typeface="微软雅黑"/>
              </a:rPr>
              <a:t>晖致中国从「过专利期断崖」叙事切换为「品牌+渠道+双通道」三轮驱动，估值锚有望从衰退型仿制药公司向高股息品牌药公司迁移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65760" y="6263640"/>
            <a:ext cx="11430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B7B7B7"/>
                </a:solidFill>
                <a:latin typeface="微软雅黑"/>
              </a:rPr>
              <a:t>资料来源：国家医保局公告(2025-07-01)；Viatris 2024 10-K、2025 Q2 财报；上海医保局《关于做好医保支付定额管理的通知》(2026)；公司公开披露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29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B7B7B7"/>
                </a:solidFill>
                <a:latin typeface="微软雅黑"/>
              </a:rPr>
              <a:t>晖致中国业绩影响研判  |  医保新政分析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24160" y="164592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B7B7B7"/>
                </a:solidFill>
                <a:latin typeface="微软雅黑"/>
              </a:rPr>
              <a:t>3 / 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411480"/>
            <a:ext cx="115214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00295B"/>
                </a:solidFill>
                <a:latin typeface="微软雅黑"/>
              </a:rPr>
              <a:t>内容框架：从政策—市场—公司—战略四层推演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886968"/>
            <a:ext cx="115214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  <a:latin typeface="微软雅黑"/>
              </a:rPr>
              <a:t>MECE 拆解：先看「政策做了什么」，再看「市场如何反应」，最后回到「晖致影响几何」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365760" y="1207008"/>
            <a:ext cx="11457432" cy="0"/>
          </a:xfrm>
          <a:prstGeom prst="line">
            <a:avLst/>
          </a:prstGeom>
          <a:ln w="15875">
            <a:solidFill>
              <a:srgbClr val="0029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365760" y="6537960"/>
            <a:ext cx="1463040" cy="22860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6537960"/>
            <a:ext cx="146304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50" b="1">
                <a:solidFill>
                  <a:srgbClr val="595959"/>
                </a:solidFill>
                <a:latin typeface="微软雅黑"/>
              </a:rPr>
              <a:t>1. 政策背景</a:t>
            </a:r>
          </a:p>
        </p:txBody>
      </p:sp>
      <p:sp>
        <p:nvSpPr>
          <p:cNvPr id="10" name="Rectangle 9"/>
          <p:cNvSpPr/>
          <p:nvPr/>
        </p:nvSpPr>
        <p:spPr>
          <a:xfrm>
            <a:off x="1920240" y="6537960"/>
            <a:ext cx="1463040" cy="22860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920240" y="6537960"/>
            <a:ext cx="146304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50" b="1">
                <a:solidFill>
                  <a:srgbClr val="595959"/>
                </a:solidFill>
                <a:latin typeface="微软雅黑"/>
              </a:rPr>
              <a:t>2. 新政详解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474720" y="6537960"/>
            <a:ext cx="1463040" cy="22860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74720" y="6537960"/>
            <a:ext cx="146304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50" b="1">
                <a:solidFill>
                  <a:srgbClr val="595959"/>
                </a:solidFill>
                <a:latin typeface="微软雅黑"/>
              </a:rPr>
              <a:t>3. 市场影响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0" y="6537960"/>
            <a:ext cx="1463040" cy="22860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0" y="6537960"/>
            <a:ext cx="146304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50" b="1">
                <a:solidFill>
                  <a:srgbClr val="595959"/>
                </a:solidFill>
                <a:latin typeface="微软雅黑"/>
              </a:rPr>
              <a:t>4. 晖致研判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583680" y="6537960"/>
            <a:ext cx="1463040" cy="22860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0" y="6537960"/>
            <a:ext cx="146304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50" b="1">
                <a:solidFill>
                  <a:srgbClr val="595959"/>
                </a:solidFill>
                <a:latin typeface="微软雅黑"/>
              </a:rPr>
              <a:t>5. 战略启示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0" y="6565392"/>
            <a:ext cx="18288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0">
                <a:solidFill>
                  <a:srgbClr val="B7B7B7"/>
                </a:solidFill>
                <a:latin typeface="微软雅黑"/>
              </a:rPr>
              <a:t>麦肯锡风格分析框架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" y="1554480"/>
            <a:ext cx="914400" cy="777240"/>
          </a:xfrm>
          <a:prstGeom prst="rect">
            <a:avLst/>
          </a:prstGeom>
          <a:solidFill>
            <a:srgbClr val="0029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5760" y="1554480"/>
            <a:ext cx="91440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Calibri"/>
              </a:rPr>
              <a:t>01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280160" y="1554480"/>
            <a:ext cx="10515600" cy="77724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463040" y="1627632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00295B"/>
                </a:solidFill>
                <a:latin typeface="微软雅黑"/>
              </a:rPr>
              <a:t>政策背景与演进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63040" y="196596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595959"/>
                </a:solidFill>
                <a:latin typeface="微软雅黑"/>
              </a:rPr>
              <a:t>中国医保改革三阶段；过专利原研药从「无差别集采」到「分层管理」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5760" y="2441448"/>
            <a:ext cx="914400" cy="777240"/>
          </a:xfrm>
          <a:prstGeom prst="rect">
            <a:avLst/>
          </a:prstGeom>
          <a:solidFill>
            <a:srgbClr val="006B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65760" y="2441448"/>
            <a:ext cx="91440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Calibri"/>
              </a:rPr>
              <a:t>02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280160" y="2441448"/>
            <a:ext cx="10515600" cy="77724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463040" y="251460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00295B"/>
                </a:solidFill>
                <a:latin typeface="微软雅黑"/>
              </a:rPr>
              <a:t>新政详解与传导链路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463040" y="2852928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595959"/>
                </a:solidFill>
                <a:latin typeface="微软雅黑"/>
              </a:rPr>
              <a:t>16 条措施、双通道、上海定额支付「1+X」机制、商保创新药目录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65760" y="3328416"/>
            <a:ext cx="914400" cy="777240"/>
          </a:xfrm>
          <a:prstGeom prst="rect">
            <a:avLst/>
          </a:prstGeom>
          <a:solidFill>
            <a:srgbClr val="006B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65760" y="3328416"/>
            <a:ext cx="91440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Calibri"/>
              </a:rPr>
              <a:t>03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280160" y="3328416"/>
            <a:ext cx="10515600" cy="77724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463040" y="3401568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00295B"/>
                </a:solidFill>
                <a:latin typeface="微软雅黑"/>
              </a:rPr>
              <a:t>中国过专利原研市场重构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463040" y="3739896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595959"/>
                </a:solidFill>
                <a:latin typeface="微软雅黑"/>
              </a:rPr>
              <a:t>市场规模、渠道结构、价格曲线、外资 vs 内资份额变化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65760" y="4215384"/>
            <a:ext cx="914400" cy="777240"/>
          </a:xfrm>
          <a:prstGeom prst="rect">
            <a:avLst/>
          </a:prstGeom>
          <a:solidFill>
            <a:srgbClr val="E871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65760" y="4215384"/>
            <a:ext cx="91440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Calibri"/>
              </a:rPr>
              <a:t>04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280160" y="4215384"/>
            <a:ext cx="10515600" cy="77724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463040" y="4288536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00295B"/>
                </a:solidFill>
                <a:latin typeface="微软雅黑"/>
              </a:rPr>
              <a:t>晖致 (Viatris) 影响研判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463040" y="4626864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595959"/>
                </a:solidFill>
                <a:latin typeface="微软雅黑"/>
              </a:rPr>
              <a:t>公司画像、产品组合、敏感性分析、三大情景量化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65760" y="5102352"/>
            <a:ext cx="914400" cy="777240"/>
          </a:xfrm>
          <a:prstGeom prst="rect">
            <a:avLst/>
          </a:prstGeom>
          <a:solidFill>
            <a:srgbClr val="0029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65760" y="5102352"/>
            <a:ext cx="91440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Calibri"/>
              </a:rPr>
              <a:t>05</a:t>
            </a:r>
          </a:p>
        </p:txBody>
      </p:sp>
      <p:sp>
        <p:nvSpPr>
          <p:cNvPr id="41" name="Rectangle 40"/>
          <p:cNvSpPr/>
          <p:nvPr/>
        </p:nvSpPr>
        <p:spPr>
          <a:xfrm>
            <a:off x="1280160" y="5102352"/>
            <a:ext cx="10515600" cy="77724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463040" y="5175504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00295B"/>
                </a:solidFill>
                <a:latin typeface="微软雅黑"/>
              </a:rPr>
              <a:t>战略启示与建议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463040" y="5513832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595959"/>
                </a:solidFill>
                <a:latin typeface="微软雅黑"/>
              </a:rPr>
              <a:t>对晖致、行业、医院端、投资人四个维度的 No-regret moves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29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B7B7B7"/>
                </a:solidFill>
                <a:latin typeface="微软雅黑"/>
              </a:rPr>
              <a:t>晖致中国业绩影响研判  |  医保新政分析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24160" y="164592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B7B7B7"/>
                </a:solidFill>
                <a:latin typeface="微软雅黑"/>
              </a:rPr>
              <a:t>4 / 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411480"/>
            <a:ext cx="115214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00295B"/>
                </a:solidFill>
                <a:latin typeface="微软雅黑"/>
              </a:rPr>
              <a:t>中国药品集采与原研药政策已演进至「分层管理 4.0」阶段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886968"/>
            <a:ext cx="115214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  <a:latin typeface="微软雅黑"/>
              </a:rPr>
              <a:t>从 2018「4+7」一刀切，到 2025–26 院内外渠道分层、医保+商保双轨支付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365760" y="1207008"/>
            <a:ext cx="11457432" cy="0"/>
          </a:xfrm>
          <a:prstGeom prst="line">
            <a:avLst/>
          </a:prstGeom>
          <a:ln w="15875">
            <a:solidFill>
              <a:srgbClr val="0029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365760" y="6537960"/>
            <a:ext cx="1463040" cy="228600"/>
          </a:xfrm>
          <a:prstGeom prst="rect">
            <a:avLst/>
          </a:prstGeom>
          <a:solidFill>
            <a:srgbClr val="0029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6537960"/>
            <a:ext cx="146304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微软雅黑"/>
              </a:rPr>
              <a:t>1. 政策背景</a:t>
            </a:r>
          </a:p>
        </p:txBody>
      </p:sp>
      <p:sp>
        <p:nvSpPr>
          <p:cNvPr id="10" name="Rectangle 9"/>
          <p:cNvSpPr/>
          <p:nvPr/>
        </p:nvSpPr>
        <p:spPr>
          <a:xfrm>
            <a:off x="1920240" y="6537960"/>
            <a:ext cx="1463040" cy="22860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920240" y="6537960"/>
            <a:ext cx="146304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50" b="1">
                <a:solidFill>
                  <a:srgbClr val="595959"/>
                </a:solidFill>
                <a:latin typeface="微软雅黑"/>
              </a:rPr>
              <a:t>2. 新政详解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474720" y="6537960"/>
            <a:ext cx="1463040" cy="22860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74720" y="6537960"/>
            <a:ext cx="146304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50" b="1">
                <a:solidFill>
                  <a:srgbClr val="595959"/>
                </a:solidFill>
                <a:latin typeface="微软雅黑"/>
              </a:rPr>
              <a:t>3. 市场影响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0" y="6537960"/>
            <a:ext cx="1463040" cy="22860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0" y="6537960"/>
            <a:ext cx="146304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50" b="1">
                <a:solidFill>
                  <a:srgbClr val="595959"/>
                </a:solidFill>
                <a:latin typeface="微软雅黑"/>
              </a:rPr>
              <a:t>4. 晖致研判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583680" y="6537960"/>
            <a:ext cx="1463040" cy="22860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0" y="6537960"/>
            <a:ext cx="146304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50" b="1">
                <a:solidFill>
                  <a:srgbClr val="595959"/>
                </a:solidFill>
                <a:latin typeface="微软雅黑"/>
              </a:rPr>
              <a:t>5. 战略启示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0" y="6565392"/>
            <a:ext cx="18288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0">
                <a:solidFill>
                  <a:srgbClr val="B7B7B7"/>
                </a:solidFill>
                <a:latin typeface="微软雅黑"/>
              </a:rPr>
              <a:t>麦肯锡风格分析框架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548640" y="2011680"/>
            <a:ext cx="11064240" cy="0"/>
          </a:xfrm>
          <a:prstGeom prst="line">
            <a:avLst/>
          </a:prstGeom>
          <a:ln w="31750">
            <a:solidFill>
              <a:srgbClr val="0029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Oval 19"/>
          <p:cNvSpPr/>
          <p:nvPr/>
        </p:nvSpPr>
        <p:spPr>
          <a:xfrm>
            <a:off x="438912" y="1901952"/>
            <a:ext cx="219456" cy="219456"/>
          </a:xfrm>
          <a:prstGeom prst="ellipse">
            <a:avLst/>
          </a:prstGeom>
          <a:solidFill>
            <a:srgbClr val="00295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-365760" y="150876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>
                <a:solidFill>
                  <a:srgbClr val="00295B"/>
                </a:solidFill>
                <a:latin typeface="微软雅黑"/>
              </a:rPr>
              <a:t>2018–2020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-548640" y="2286000"/>
            <a:ext cx="21945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50" b="1">
                <a:solidFill>
                  <a:srgbClr val="00295B"/>
                </a:solidFill>
                <a:latin typeface="微软雅黑"/>
              </a:rPr>
              <a:t>4+7 试点 → 国采常态化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-640080" y="2834640"/>
            <a:ext cx="2377440" cy="228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>
                <a:solidFill>
                  <a:srgbClr val="595959"/>
                </a:solidFill>
                <a:latin typeface="微软雅黑"/>
              </a:rPr>
              <a:t>原研药价格暴跌 50–90%；外资过专利品牌大幅失血</a:t>
            </a:r>
          </a:p>
        </p:txBody>
      </p:sp>
      <p:sp>
        <p:nvSpPr>
          <p:cNvPr id="24" name="Oval 23"/>
          <p:cNvSpPr/>
          <p:nvPr/>
        </p:nvSpPr>
        <p:spPr>
          <a:xfrm>
            <a:off x="3212515" y="1901952"/>
            <a:ext cx="219456" cy="219456"/>
          </a:xfrm>
          <a:prstGeom prst="ellipse">
            <a:avLst/>
          </a:prstGeom>
          <a:solidFill>
            <a:srgbClr val="006BA6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407843" y="150876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>
                <a:solidFill>
                  <a:srgbClr val="006BA6"/>
                </a:solidFill>
                <a:latin typeface="微软雅黑"/>
              </a:rPr>
              <a:t>2021–2023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224963" y="2286000"/>
            <a:ext cx="21945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50" b="1">
                <a:solidFill>
                  <a:srgbClr val="00295B"/>
                </a:solidFill>
                <a:latin typeface="微软雅黑"/>
              </a:rPr>
              <a:t>国采 5–9 批 + DRG/DIP 试点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133523" y="2834640"/>
            <a:ext cx="2377440" cy="228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>
                <a:solidFill>
                  <a:srgbClr val="595959"/>
                </a:solidFill>
                <a:latin typeface="微软雅黑"/>
              </a:rPr>
              <a:t>「一刀切」政策下原研药基本退出公立医院；催生 DTP 药房替代渠道</a:t>
            </a:r>
          </a:p>
        </p:txBody>
      </p:sp>
      <p:sp>
        <p:nvSpPr>
          <p:cNvPr id="28" name="Oval 27"/>
          <p:cNvSpPr/>
          <p:nvPr/>
        </p:nvSpPr>
        <p:spPr>
          <a:xfrm>
            <a:off x="5986118" y="1901952"/>
            <a:ext cx="219456" cy="219456"/>
          </a:xfrm>
          <a:prstGeom prst="ellipse">
            <a:avLst/>
          </a:prstGeom>
          <a:solidFill>
            <a:srgbClr val="E87122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181446" y="150876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>
                <a:solidFill>
                  <a:srgbClr val="E87122"/>
                </a:solidFill>
                <a:latin typeface="微软雅黑"/>
              </a:rPr>
              <a:t>2024 H2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998566" y="2286000"/>
            <a:ext cx="21945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50" b="1">
                <a:solidFill>
                  <a:srgbClr val="00295B"/>
                </a:solidFill>
                <a:latin typeface="微软雅黑"/>
              </a:rPr>
              <a:t>国务院「以患者为中心」用药政策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907126" y="2834640"/>
            <a:ext cx="2377440" cy="228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>
                <a:solidFill>
                  <a:srgbClr val="595959"/>
                </a:solidFill>
                <a:latin typeface="微软雅黑"/>
              </a:rPr>
              <a:t>首次明确「医院应满足合理临床需求」，原研药回流口子打开</a:t>
            </a:r>
          </a:p>
        </p:txBody>
      </p:sp>
      <p:sp>
        <p:nvSpPr>
          <p:cNvPr id="32" name="Oval 31"/>
          <p:cNvSpPr/>
          <p:nvPr/>
        </p:nvSpPr>
        <p:spPr>
          <a:xfrm>
            <a:off x="8759721" y="1901952"/>
            <a:ext cx="219456" cy="219456"/>
          </a:xfrm>
          <a:prstGeom prst="ellipse">
            <a:avLst/>
          </a:prstGeom>
          <a:solidFill>
            <a:srgbClr val="E87122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955049" y="150876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>
                <a:solidFill>
                  <a:srgbClr val="E87122"/>
                </a:solidFill>
                <a:latin typeface="微软雅黑"/>
              </a:rPr>
              <a:t>2025/7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772169" y="2286000"/>
            <a:ext cx="21945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50" b="1">
                <a:solidFill>
                  <a:srgbClr val="00295B"/>
                </a:solidFill>
                <a:latin typeface="微软雅黑"/>
              </a:rPr>
              <a:t>16 条创新药措施 + 双通道扩容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680729" y="2834640"/>
            <a:ext cx="2377440" cy="228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>
                <a:solidFill>
                  <a:srgbClr val="595959"/>
                </a:solidFill>
                <a:latin typeface="微软雅黑"/>
              </a:rPr>
              <a:t>建立商保创新药目录；放宽一品两规；3,253 个品种纳入双通道</a:t>
            </a:r>
          </a:p>
        </p:txBody>
      </p:sp>
      <p:sp>
        <p:nvSpPr>
          <p:cNvPr id="36" name="Oval 35"/>
          <p:cNvSpPr/>
          <p:nvPr/>
        </p:nvSpPr>
        <p:spPr>
          <a:xfrm>
            <a:off x="11533324" y="1901952"/>
            <a:ext cx="219456" cy="219456"/>
          </a:xfrm>
          <a:prstGeom prst="ellipse">
            <a:avLst/>
          </a:prstGeom>
          <a:solidFill>
            <a:srgbClr val="C039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728652" y="150876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>
                <a:solidFill>
                  <a:srgbClr val="C0392B"/>
                </a:solidFill>
                <a:latin typeface="微软雅黑"/>
              </a:rPr>
              <a:t>2026/Q1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545772" y="2286000"/>
            <a:ext cx="21945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50" b="1">
                <a:solidFill>
                  <a:srgbClr val="00295B"/>
                </a:solidFill>
                <a:latin typeface="微软雅黑"/>
              </a:rPr>
              <a:t>上海「定额支付」试点 → 全国推广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454332" y="2834640"/>
            <a:ext cx="2377440" cy="228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>
                <a:solidFill>
                  <a:srgbClr val="595959"/>
                </a:solidFill>
                <a:latin typeface="微软雅黑"/>
              </a:rPr>
              <a:t>非集采原研药正式可在公立医院销售，医保按中选价封顶报销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65760" y="5303520"/>
            <a:ext cx="548640" cy="822960"/>
          </a:xfrm>
          <a:prstGeom prst="rect">
            <a:avLst/>
          </a:prstGeom>
          <a:solidFill>
            <a:srgbClr val="E871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65760" y="5303520"/>
            <a:ext cx="54864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微软雅黑"/>
              </a:rPr>
              <a:t>关键</a:t>
            </a:r>
          </a:p>
          <a:p>
            <a:pPr algn="ctr"/>
            <a:r>
              <a:rPr sz="1000" b="1">
                <a:solidFill>
                  <a:srgbClr val="FFFFFF"/>
                </a:solidFill>
                <a:latin typeface="微软雅黑"/>
              </a:rPr>
              <a:t>洞察</a:t>
            </a:r>
          </a:p>
        </p:txBody>
      </p:sp>
      <p:sp>
        <p:nvSpPr>
          <p:cNvPr id="42" name="Rectangle 41"/>
          <p:cNvSpPr/>
          <p:nvPr/>
        </p:nvSpPr>
        <p:spPr>
          <a:xfrm>
            <a:off x="914400" y="5303520"/>
            <a:ext cx="10881360" cy="82296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097280" y="5349240"/>
            <a:ext cx="1060704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  <a:latin typeface="微软雅黑"/>
              </a:rPr>
              <a:t>政策方向已从「价格机制单一管控」转向「价格+渠道+支付三维分层」——过专利原研药不再是被无差别压价的对象，而是被划入「满足差异化临床需求」的合法供给层；外资品牌的「品牌溢价 + 患者粘性」首次被政策端正式承认。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65760" y="6263640"/>
            <a:ext cx="11430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B7B7B7"/>
                </a:solidFill>
                <a:latin typeface="微软雅黑"/>
              </a:rPr>
              <a:t>资料来源：国务院《关于推动药品集中带量采购工作常态化制度化开展的意见》(2021)；国家医保局《支持创新药高质量发展若干措施》(医保发〔2025〕14号)；上海医保局公告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29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B7B7B7"/>
                </a:solidFill>
                <a:latin typeface="微软雅黑"/>
              </a:rPr>
              <a:t>晖致中国业绩影响研判  |  医保新政分析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24160" y="164592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B7B7B7"/>
                </a:solidFill>
                <a:latin typeface="微软雅黑"/>
              </a:rPr>
              <a:t>5 / 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411480"/>
            <a:ext cx="115214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00295B"/>
                </a:solidFill>
                <a:latin typeface="微软雅黑"/>
              </a:rPr>
              <a:t>新政「四大支柱」直接利好过专利原研药回流医院端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886968"/>
            <a:ext cx="115214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  <a:latin typeface="微软雅黑"/>
              </a:rPr>
              <a:t>2025/7《支持创新药高质量发展若干措施》16 条中，至少 7 条直接利好原研药；上海定额支付落地为标志性事件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365760" y="1207008"/>
            <a:ext cx="11457432" cy="0"/>
          </a:xfrm>
          <a:prstGeom prst="line">
            <a:avLst/>
          </a:prstGeom>
          <a:ln w="15875">
            <a:solidFill>
              <a:srgbClr val="0029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365760" y="6537960"/>
            <a:ext cx="1463040" cy="22860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6537960"/>
            <a:ext cx="146304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50" b="1">
                <a:solidFill>
                  <a:srgbClr val="595959"/>
                </a:solidFill>
                <a:latin typeface="微软雅黑"/>
              </a:rPr>
              <a:t>1. 政策背景</a:t>
            </a:r>
          </a:p>
        </p:txBody>
      </p:sp>
      <p:sp>
        <p:nvSpPr>
          <p:cNvPr id="10" name="Rectangle 9"/>
          <p:cNvSpPr/>
          <p:nvPr/>
        </p:nvSpPr>
        <p:spPr>
          <a:xfrm>
            <a:off x="1920240" y="6537960"/>
            <a:ext cx="1463040" cy="228600"/>
          </a:xfrm>
          <a:prstGeom prst="rect">
            <a:avLst/>
          </a:prstGeom>
          <a:solidFill>
            <a:srgbClr val="0029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920240" y="6537960"/>
            <a:ext cx="146304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微软雅黑"/>
              </a:rPr>
              <a:t>2. 新政详解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474720" y="6537960"/>
            <a:ext cx="1463040" cy="22860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74720" y="6537960"/>
            <a:ext cx="146304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50" b="1">
                <a:solidFill>
                  <a:srgbClr val="595959"/>
                </a:solidFill>
                <a:latin typeface="微软雅黑"/>
              </a:rPr>
              <a:t>3. 市场影响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0" y="6537960"/>
            <a:ext cx="1463040" cy="22860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0" y="6537960"/>
            <a:ext cx="146304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50" b="1">
                <a:solidFill>
                  <a:srgbClr val="595959"/>
                </a:solidFill>
                <a:latin typeface="微软雅黑"/>
              </a:rPr>
              <a:t>4. 晖致研判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583680" y="6537960"/>
            <a:ext cx="1463040" cy="22860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0" y="6537960"/>
            <a:ext cx="146304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50" b="1">
                <a:solidFill>
                  <a:srgbClr val="595959"/>
                </a:solidFill>
                <a:latin typeface="微软雅黑"/>
              </a:rPr>
              <a:t>5. 战略启示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0" y="6565392"/>
            <a:ext cx="18288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0">
                <a:solidFill>
                  <a:srgbClr val="B7B7B7"/>
                </a:solidFill>
                <a:latin typeface="微软雅黑"/>
              </a:rPr>
              <a:t>麦肯锡风格分析框架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" y="1463040"/>
            <a:ext cx="2834640" cy="457200"/>
          </a:xfrm>
          <a:prstGeom prst="rect">
            <a:avLst/>
          </a:prstGeom>
          <a:solidFill>
            <a:srgbClr val="0029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5760" y="1463040"/>
            <a:ext cx="283464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微软雅黑"/>
              </a:rPr>
              <a:t>准入加速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1920240"/>
            <a:ext cx="2834640" cy="292608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2920" y="2011680"/>
            <a:ext cx="2560320" cy="274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595959"/>
                </a:solidFill>
                <a:latin typeface="微软雅黑"/>
              </a:rPr>
              <a:t>• 医保目录一年一调</a:t>
            </a:r>
          </a:p>
          <a:p>
            <a:pPr algn="l"/>
            <a:r>
              <a:rPr sz="1050" b="0">
                <a:solidFill>
                  <a:srgbClr val="595959"/>
                </a:solidFill>
                <a:latin typeface="微软雅黑"/>
              </a:rPr>
              <a:t>• 创新药/原研药同步纳入评估</a:t>
            </a:r>
          </a:p>
          <a:p>
            <a:pPr algn="l"/>
            <a:r>
              <a:rPr sz="1050" b="0">
                <a:solidFill>
                  <a:srgbClr val="595959"/>
                </a:solidFill>
                <a:latin typeface="微软雅黑"/>
              </a:rPr>
              <a:t>• 新药 2 年内入医保比例 ~80%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65760" y="4846320"/>
            <a:ext cx="2834640" cy="822960"/>
          </a:xfrm>
          <a:prstGeom prst="rect">
            <a:avLst/>
          </a:prstGeom>
          <a:solidFill>
            <a:srgbClr val="CFE2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02920" y="4892040"/>
            <a:ext cx="256032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>
                <a:solidFill>
                  <a:srgbClr val="00295B"/>
                </a:solidFill>
                <a:latin typeface="微软雅黑"/>
              </a:rPr>
              <a:t>传导效应：</a:t>
            </a:r>
          </a:p>
          <a:p>
            <a:pPr algn="l"/>
            <a:r>
              <a:rPr sz="1000" b="1">
                <a:solidFill>
                  <a:srgbClr val="00295B"/>
                </a:solidFill>
                <a:latin typeface="微软雅黑"/>
              </a:rPr>
              <a:t>申报→评审→谈判周期由 18-24 月压缩至 6-12 月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319272" y="1463040"/>
            <a:ext cx="2834640" cy="457200"/>
          </a:xfrm>
          <a:prstGeom prst="rect">
            <a:avLst/>
          </a:prstGeom>
          <a:solidFill>
            <a:srgbClr val="0029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319272" y="1463040"/>
            <a:ext cx="283464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微软雅黑"/>
              </a:rPr>
              <a:t>配备松绑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319272" y="1920240"/>
            <a:ext cx="2834640" cy="292608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456432" y="2011680"/>
            <a:ext cx="2560320" cy="274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595959"/>
                </a:solidFill>
                <a:latin typeface="微软雅黑"/>
              </a:rPr>
              <a:t>• 目录公布后 3 个月内召开药事会</a:t>
            </a:r>
          </a:p>
          <a:p>
            <a:pPr algn="l"/>
            <a:r>
              <a:rPr sz="1050" b="0">
                <a:solidFill>
                  <a:srgbClr val="595959"/>
                </a:solidFill>
                <a:latin typeface="微软雅黑"/>
              </a:rPr>
              <a:t>• 一品两规放宽</a:t>
            </a:r>
          </a:p>
          <a:p>
            <a:pPr algn="l"/>
            <a:r>
              <a:rPr sz="1050" b="0">
                <a:solidFill>
                  <a:srgbClr val="595959"/>
                </a:solidFill>
                <a:latin typeface="微软雅黑"/>
              </a:rPr>
              <a:t>• 医院不得以费用控制为由拒绝配备</a:t>
            </a:r>
          </a:p>
          <a:p>
            <a:pPr algn="l"/>
            <a:r>
              <a:rPr sz="1050" b="0">
                <a:solidFill>
                  <a:srgbClr val="595959"/>
                </a:solidFill>
                <a:latin typeface="微软雅黑"/>
              </a:rPr>
              <a:t>• 双通道扩容至 3,253 品种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319272" y="4846320"/>
            <a:ext cx="2834640" cy="822960"/>
          </a:xfrm>
          <a:prstGeom prst="rect">
            <a:avLst/>
          </a:prstGeom>
          <a:solidFill>
            <a:srgbClr val="CFE2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456432" y="4892040"/>
            <a:ext cx="256032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>
                <a:solidFill>
                  <a:srgbClr val="00295B"/>
                </a:solidFill>
                <a:latin typeface="微软雅黑"/>
              </a:rPr>
              <a:t>传导效应：</a:t>
            </a:r>
          </a:p>
          <a:p>
            <a:pPr algn="l"/>
            <a:r>
              <a:rPr sz="1000" b="1">
                <a:solidFill>
                  <a:srgbClr val="00295B"/>
                </a:solidFill>
                <a:latin typeface="微软雅黑"/>
              </a:rPr>
              <a:t>原研药首次获得「合法回流」公立医院的政策依据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272784" y="1463040"/>
            <a:ext cx="2834640" cy="457200"/>
          </a:xfrm>
          <a:prstGeom prst="rect">
            <a:avLst/>
          </a:prstGeom>
          <a:solidFill>
            <a:srgbClr val="0029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272784" y="1463040"/>
            <a:ext cx="283464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微软雅黑"/>
              </a:rPr>
              <a:t>支付改革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272784" y="1920240"/>
            <a:ext cx="2834640" cy="292608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09944" y="2011680"/>
            <a:ext cx="2560320" cy="274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595959"/>
                </a:solidFill>
                <a:latin typeface="微软雅黑"/>
              </a:rPr>
              <a:t>• 「1+X」机制：1 中选 + 若干非中选</a:t>
            </a:r>
          </a:p>
          <a:p>
            <a:pPr algn="l"/>
            <a:r>
              <a:rPr sz="1050" b="0">
                <a:solidFill>
                  <a:srgbClr val="595959"/>
                </a:solidFill>
                <a:latin typeface="微软雅黑"/>
              </a:rPr>
              <a:t>• 上海定额支付：医保按中选价封顶</a:t>
            </a:r>
          </a:p>
          <a:p>
            <a:pPr algn="l"/>
            <a:r>
              <a:rPr sz="1050" b="0">
                <a:solidFill>
                  <a:srgbClr val="595959"/>
                </a:solidFill>
                <a:latin typeface="微软雅黑"/>
              </a:rPr>
              <a:t>• DRG/DIP 单列除外目录</a:t>
            </a:r>
          </a:p>
          <a:p>
            <a:pPr algn="l"/>
            <a:r>
              <a:rPr sz="1050" b="0">
                <a:solidFill>
                  <a:srgbClr val="595959"/>
                </a:solidFill>
                <a:latin typeface="微软雅黑"/>
              </a:rPr>
              <a:t>• 商保创新药目录首次设立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272784" y="4846320"/>
            <a:ext cx="2834640" cy="822960"/>
          </a:xfrm>
          <a:prstGeom prst="rect">
            <a:avLst/>
          </a:prstGeom>
          <a:solidFill>
            <a:srgbClr val="CFE2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09944" y="4892040"/>
            <a:ext cx="256032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>
                <a:solidFill>
                  <a:srgbClr val="00295B"/>
                </a:solidFill>
                <a:latin typeface="微软雅黑"/>
              </a:rPr>
              <a:t>传导效应：</a:t>
            </a:r>
          </a:p>
          <a:p>
            <a:pPr algn="l"/>
            <a:r>
              <a:rPr sz="1000" b="1">
                <a:solidFill>
                  <a:srgbClr val="00295B"/>
                </a:solidFill>
                <a:latin typeface="微软雅黑"/>
              </a:rPr>
              <a:t>把「是否买原研」的选择权交还给医生和患者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226296" y="1463040"/>
            <a:ext cx="2834640" cy="457200"/>
          </a:xfrm>
          <a:prstGeom prst="rect">
            <a:avLst/>
          </a:prstGeom>
          <a:solidFill>
            <a:srgbClr val="0029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226296" y="1463040"/>
            <a:ext cx="283464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微软雅黑"/>
              </a:rPr>
              <a:t>渠道融合</a:t>
            </a:r>
          </a:p>
        </p:txBody>
      </p:sp>
      <p:sp>
        <p:nvSpPr>
          <p:cNvPr id="39" name="Rectangle 38"/>
          <p:cNvSpPr/>
          <p:nvPr/>
        </p:nvSpPr>
        <p:spPr>
          <a:xfrm>
            <a:off x="9226296" y="1920240"/>
            <a:ext cx="2834640" cy="292608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363456" y="2011680"/>
            <a:ext cx="2560320" cy="274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595959"/>
                </a:solidFill>
                <a:latin typeface="微软雅黑"/>
              </a:rPr>
              <a:t>• 双通道电子处方全流程流转</a:t>
            </a:r>
          </a:p>
          <a:p>
            <a:pPr algn="l"/>
            <a:r>
              <a:rPr sz="1050" b="0">
                <a:solidFill>
                  <a:srgbClr val="595959"/>
                </a:solidFill>
                <a:latin typeface="微软雅黑"/>
              </a:rPr>
              <a:t>• 院外定点零售药店 = 医院延伸</a:t>
            </a:r>
          </a:p>
          <a:p>
            <a:pPr algn="l"/>
            <a:r>
              <a:rPr sz="1050" b="0">
                <a:solidFill>
                  <a:srgbClr val="595959"/>
                </a:solidFill>
                <a:latin typeface="微软雅黑"/>
              </a:rPr>
              <a:t>• 真实世界研究数据用于支付决策</a:t>
            </a:r>
          </a:p>
          <a:p>
            <a:pPr algn="l"/>
            <a:r>
              <a:rPr sz="1050" b="0">
                <a:solidFill>
                  <a:srgbClr val="595959"/>
                </a:solidFill>
                <a:latin typeface="微软雅黑"/>
              </a:rPr>
              <a:t>• 鼓励 DTP/MAH 模式</a:t>
            </a:r>
          </a:p>
        </p:txBody>
      </p:sp>
      <p:sp>
        <p:nvSpPr>
          <p:cNvPr id="41" name="Rectangle 40"/>
          <p:cNvSpPr/>
          <p:nvPr/>
        </p:nvSpPr>
        <p:spPr>
          <a:xfrm>
            <a:off x="9226296" y="4846320"/>
            <a:ext cx="2834640" cy="822960"/>
          </a:xfrm>
          <a:prstGeom prst="rect">
            <a:avLst/>
          </a:prstGeom>
          <a:solidFill>
            <a:srgbClr val="CFE2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363456" y="4892040"/>
            <a:ext cx="256032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>
                <a:solidFill>
                  <a:srgbClr val="00295B"/>
                </a:solidFill>
                <a:latin typeface="微软雅黑"/>
              </a:rPr>
              <a:t>传导效应：</a:t>
            </a:r>
          </a:p>
          <a:p>
            <a:pPr algn="l"/>
            <a:r>
              <a:rPr sz="1000" b="1">
                <a:solidFill>
                  <a:srgbClr val="00295B"/>
                </a:solidFill>
                <a:latin typeface="微软雅黑"/>
              </a:rPr>
              <a:t>院内+院外+商保三轮驱动，渠道结构性扩张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65760" y="6263640"/>
            <a:ext cx="11430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B7B7B7"/>
                </a:solidFill>
                <a:latin typeface="微软雅黑"/>
              </a:rPr>
              <a:t>资料来源：国家医保局《支持创新药高质量发展若干措施》医保发〔2025〕14号；国家医保局《2025年医保目录调整工作方案》(2025-07-10)；行业访谈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29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B7B7B7"/>
                </a:solidFill>
                <a:latin typeface="微软雅黑"/>
              </a:rPr>
              <a:t>晖致中国业绩影响研判  |  医保新政分析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24160" y="164592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B7B7B7"/>
                </a:solidFill>
                <a:latin typeface="微软雅黑"/>
              </a:rPr>
              <a:t>6 / 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411480"/>
            <a:ext cx="115214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00295B"/>
                </a:solidFill>
                <a:latin typeface="微软雅黑"/>
              </a:rPr>
              <a:t>上海「定额支付」是非集采原研药回流医院的「标志性破冰」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886968"/>
            <a:ext cx="115214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  <a:latin typeface="微软雅黑"/>
              </a:rPr>
              <a:t>医保以集采中选价为支付上限——把成本端可控性给医保，把选择权交给患者，把市场重新打开给原研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365760" y="1207008"/>
            <a:ext cx="11457432" cy="0"/>
          </a:xfrm>
          <a:prstGeom prst="line">
            <a:avLst/>
          </a:prstGeom>
          <a:ln w="15875">
            <a:solidFill>
              <a:srgbClr val="0029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365760" y="6537960"/>
            <a:ext cx="1463040" cy="22860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6537960"/>
            <a:ext cx="146304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50" b="1">
                <a:solidFill>
                  <a:srgbClr val="595959"/>
                </a:solidFill>
                <a:latin typeface="微软雅黑"/>
              </a:rPr>
              <a:t>1. 政策背景</a:t>
            </a:r>
          </a:p>
        </p:txBody>
      </p:sp>
      <p:sp>
        <p:nvSpPr>
          <p:cNvPr id="10" name="Rectangle 9"/>
          <p:cNvSpPr/>
          <p:nvPr/>
        </p:nvSpPr>
        <p:spPr>
          <a:xfrm>
            <a:off x="1920240" y="6537960"/>
            <a:ext cx="1463040" cy="228600"/>
          </a:xfrm>
          <a:prstGeom prst="rect">
            <a:avLst/>
          </a:prstGeom>
          <a:solidFill>
            <a:srgbClr val="0029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920240" y="6537960"/>
            <a:ext cx="146304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微软雅黑"/>
              </a:rPr>
              <a:t>2. 新政详解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474720" y="6537960"/>
            <a:ext cx="1463040" cy="22860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74720" y="6537960"/>
            <a:ext cx="146304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50" b="1">
                <a:solidFill>
                  <a:srgbClr val="595959"/>
                </a:solidFill>
                <a:latin typeface="微软雅黑"/>
              </a:rPr>
              <a:t>3. 市场影响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0" y="6537960"/>
            <a:ext cx="1463040" cy="22860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0" y="6537960"/>
            <a:ext cx="146304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50" b="1">
                <a:solidFill>
                  <a:srgbClr val="595959"/>
                </a:solidFill>
                <a:latin typeface="微软雅黑"/>
              </a:rPr>
              <a:t>4. 晖致研判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583680" y="6537960"/>
            <a:ext cx="1463040" cy="22860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0" y="6537960"/>
            <a:ext cx="146304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50" b="1">
                <a:solidFill>
                  <a:srgbClr val="595959"/>
                </a:solidFill>
                <a:latin typeface="微软雅黑"/>
              </a:rPr>
              <a:t>5. 战略启示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0" y="6565392"/>
            <a:ext cx="18288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0">
                <a:solidFill>
                  <a:srgbClr val="B7B7B7"/>
                </a:solidFill>
                <a:latin typeface="微软雅黑"/>
              </a:rPr>
              <a:t>麦肯锡风格分析框架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" y="1417320"/>
            <a:ext cx="5760720" cy="457200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2920" y="150876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00295B"/>
                </a:solidFill>
                <a:latin typeface="微软雅黑"/>
              </a:rPr>
              <a:t>案例：阿托伐他汀 20mg × 7 片/盒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2103120"/>
            <a:ext cx="274320" cy="457200"/>
          </a:xfrm>
          <a:prstGeom prst="rect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4400" y="2103120"/>
            <a:ext cx="2743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>
                <a:solidFill>
                  <a:srgbClr val="595959"/>
                </a:solidFill>
                <a:latin typeface="微软雅黑"/>
              </a:rPr>
              <a:t>国采中选仿制药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114800" y="2103120"/>
            <a:ext cx="18288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200" b="1">
                <a:solidFill>
                  <a:srgbClr val="2E8B57"/>
                </a:solidFill>
                <a:latin typeface="微软雅黑"/>
              </a:rPr>
              <a:t>4.5 元/盒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8640" y="2926080"/>
            <a:ext cx="457200" cy="457200"/>
          </a:xfrm>
          <a:prstGeom prst="rect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1005840" y="2926080"/>
            <a:ext cx="2560320" cy="45720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48640" y="292608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微软雅黑"/>
              </a:rPr>
              <a:t>医保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05840" y="2926080"/>
            <a:ext cx="256032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微软雅黑"/>
              </a:rPr>
              <a:t>患者自付 25.5 元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657600" y="2560320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595959"/>
                </a:solidFill>
                <a:latin typeface="微软雅黑"/>
              </a:rPr>
              <a:t>原研立普妥 (晖致)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657600" y="2926080"/>
            <a:ext cx="22860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00295B"/>
                </a:solidFill>
                <a:latin typeface="微软雅黑"/>
              </a:rPr>
              <a:t>30.0 元/盒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" y="3840480"/>
            <a:ext cx="5486400" cy="2011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595959"/>
                </a:solidFill>
                <a:latin typeface="微软雅黑"/>
              </a:rPr>
              <a:t>运行机制：</a:t>
            </a:r>
          </a:p>
          <a:p>
            <a:pPr algn="l"/>
            <a:r>
              <a:rPr sz="1050" b="0">
                <a:solidFill>
                  <a:srgbClr val="595959"/>
                </a:solidFill>
                <a:latin typeface="微软雅黑"/>
              </a:rPr>
              <a:t>• 医保支付上限 = 集采中选价 (4.5 元)</a:t>
            </a:r>
          </a:p>
          <a:p>
            <a:pPr algn="l"/>
            <a:r>
              <a:rPr sz="1050" b="0">
                <a:solidFill>
                  <a:srgbClr val="595959"/>
                </a:solidFill>
                <a:latin typeface="微软雅黑"/>
              </a:rPr>
              <a:t>• 患者选择原研：医保按 4.5 元定额支付，差价 25.5 元自付</a:t>
            </a:r>
          </a:p>
          <a:p>
            <a:pPr algn="l"/>
            <a:r>
              <a:rPr sz="1050" b="0">
                <a:solidFill>
                  <a:srgbClr val="595959"/>
                </a:solidFill>
                <a:latin typeface="微软雅黑"/>
              </a:rPr>
              <a:t>• 医院端：采购非中选原研不计入「医保结余留用」考核</a:t>
            </a:r>
          </a:p>
          <a:p>
            <a:pPr algn="l"/>
            <a:r>
              <a:rPr sz="1050" b="0">
                <a:solidFill>
                  <a:srgbClr val="595959"/>
                </a:solidFill>
                <a:latin typeface="微软雅黑"/>
              </a:rPr>
              <a:t>• DRG/DIP：原研可单列除外、不挤占组别费用包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400800" y="1417320"/>
            <a:ext cx="5394960" cy="4572000"/>
          </a:xfrm>
          <a:prstGeom prst="rect">
            <a:avLst/>
          </a:prstGeom>
          <a:solidFill>
            <a:srgbClr val="FFFFFF"/>
          </a:solidFill>
          <a:ln>
            <a:solidFill>
              <a:srgbClr val="0029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537960" y="1508760"/>
            <a:ext cx="5212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00295B"/>
                </a:solidFill>
                <a:latin typeface="微软雅黑"/>
              </a:rPr>
              <a:t>对晖致等外资原研的三层利好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583680" y="2011680"/>
            <a:ext cx="640080" cy="640080"/>
          </a:xfrm>
          <a:prstGeom prst="rect">
            <a:avLst/>
          </a:prstGeom>
          <a:solidFill>
            <a:srgbClr val="E871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583680" y="2011680"/>
            <a:ext cx="64008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微软雅黑"/>
              </a:rPr>
              <a:t>① 渠道回流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0" y="2057400"/>
            <a:ext cx="438912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595959"/>
                </a:solidFill>
                <a:latin typeface="微软雅黑"/>
              </a:rPr>
              <a:t>医院端市场重新开放，估算可恢复 15-25% 的院内份额（vs 集采前)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583680" y="2788920"/>
            <a:ext cx="640080" cy="640080"/>
          </a:xfrm>
          <a:prstGeom prst="rect">
            <a:avLst/>
          </a:prstGeom>
          <a:solidFill>
            <a:srgbClr val="E871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583680" y="2788920"/>
            <a:ext cx="64008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微软雅黑"/>
              </a:rPr>
              <a:t>② 价格保护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315200" y="2834640"/>
            <a:ext cx="438912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595959"/>
                </a:solidFill>
                <a:latin typeface="微软雅黑"/>
              </a:rPr>
              <a:t>医保定额≠强制降价；原研药维持「品牌溢价」定价权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583680" y="3566160"/>
            <a:ext cx="640080" cy="640080"/>
          </a:xfrm>
          <a:prstGeom prst="rect">
            <a:avLst/>
          </a:prstGeom>
          <a:solidFill>
            <a:srgbClr val="E871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583680" y="3566160"/>
            <a:ext cx="64008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微软雅黑"/>
              </a:rPr>
              <a:t>③ 患者分层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315200" y="3611880"/>
            <a:ext cx="438912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595959"/>
                </a:solidFill>
                <a:latin typeface="微软雅黑"/>
              </a:rPr>
              <a:t>高端慢病/中产患者愿自付差价，TAM 实际放大而非萎缩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583680" y="4343400"/>
            <a:ext cx="640080" cy="640080"/>
          </a:xfrm>
          <a:prstGeom prst="rect">
            <a:avLst/>
          </a:prstGeom>
          <a:solidFill>
            <a:srgbClr val="E871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583680" y="4343400"/>
            <a:ext cx="64008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微软雅黑"/>
              </a:rPr>
              <a:t>④ 合规阳光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315200" y="4389120"/>
            <a:ext cx="438912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595959"/>
                </a:solidFill>
                <a:latin typeface="微软雅黑"/>
              </a:rPr>
              <a:t>结束「带金销售」灰区，外资合规优势重新转化为竞争力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583680" y="5349240"/>
            <a:ext cx="5120640" cy="502920"/>
          </a:xfrm>
          <a:prstGeom prst="rect">
            <a:avLst/>
          </a:prstGeom>
          <a:solidFill>
            <a:srgbClr val="CFE2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720840" y="5349240"/>
            <a:ext cx="493776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>
                <a:solidFill>
                  <a:srgbClr val="00295B"/>
                </a:solidFill>
                <a:latin typeface="微软雅黑"/>
              </a:rPr>
              <a:t>⚠ 注意：试点首先落地北上广深及强二线，三四线下沉需 1-2 年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65760" y="6263640"/>
            <a:ext cx="11430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B7B7B7"/>
                </a:solidFill>
                <a:latin typeface="微软雅黑"/>
              </a:rPr>
              <a:t>资料来源：上海医保局《关于做好集采非中选药品医保支付管理的通知》(2026)；虎嗅《医院又能买到进口药了》(2026-05)；新浪财经报道；新华社专题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29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B7B7B7"/>
                </a:solidFill>
                <a:latin typeface="微软雅黑"/>
              </a:rPr>
              <a:t>晖致中国业绩影响研判  |  医保新政分析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24160" y="164592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B7B7B7"/>
                </a:solidFill>
                <a:latin typeface="微软雅黑"/>
              </a:rPr>
              <a:t>7 / 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411480"/>
            <a:ext cx="115214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00295B"/>
                </a:solidFill>
                <a:latin typeface="微软雅黑"/>
              </a:rPr>
              <a:t>中国过专利原研药市场约 1,800 亿元，新政有望释放 200–350 亿增量空间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886968"/>
            <a:ext cx="115214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  <a:latin typeface="微软雅黑"/>
              </a:rPr>
              <a:t>测算口径：化药制剂中过专利且具品牌力的原研品种；2024 基线规模约 1,800 亿元 CNY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365760" y="1207008"/>
            <a:ext cx="11457432" cy="0"/>
          </a:xfrm>
          <a:prstGeom prst="line">
            <a:avLst/>
          </a:prstGeom>
          <a:ln w="15875">
            <a:solidFill>
              <a:srgbClr val="0029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365760" y="6537960"/>
            <a:ext cx="1463040" cy="22860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6537960"/>
            <a:ext cx="146304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50" b="1">
                <a:solidFill>
                  <a:srgbClr val="595959"/>
                </a:solidFill>
                <a:latin typeface="微软雅黑"/>
              </a:rPr>
              <a:t>1. 政策背景</a:t>
            </a:r>
          </a:p>
        </p:txBody>
      </p:sp>
      <p:sp>
        <p:nvSpPr>
          <p:cNvPr id="10" name="Rectangle 9"/>
          <p:cNvSpPr/>
          <p:nvPr/>
        </p:nvSpPr>
        <p:spPr>
          <a:xfrm>
            <a:off x="1920240" y="6537960"/>
            <a:ext cx="1463040" cy="22860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920240" y="6537960"/>
            <a:ext cx="146304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50" b="1">
                <a:solidFill>
                  <a:srgbClr val="595959"/>
                </a:solidFill>
                <a:latin typeface="微软雅黑"/>
              </a:rPr>
              <a:t>2. 新政详解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474720" y="6537960"/>
            <a:ext cx="1463040" cy="228600"/>
          </a:xfrm>
          <a:prstGeom prst="rect">
            <a:avLst/>
          </a:prstGeom>
          <a:solidFill>
            <a:srgbClr val="0029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74720" y="6537960"/>
            <a:ext cx="146304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微软雅黑"/>
              </a:rPr>
              <a:t>3. 市场影响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0" y="6537960"/>
            <a:ext cx="1463040" cy="22860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0" y="6537960"/>
            <a:ext cx="146304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50" b="1">
                <a:solidFill>
                  <a:srgbClr val="595959"/>
                </a:solidFill>
                <a:latin typeface="微软雅黑"/>
              </a:rPr>
              <a:t>4. 晖致研判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583680" y="6537960"/>
            <a:ext cx="1463040" cy="22860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0" y="6537960"/>
            <a:ext cx="146304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50" b="1">
                <a:solidFill>
                  <a:srgbClr val="595959"/>
                </a:solidFill>
                <a:latin typeface="微软雅黑"/>
              </a:rPr>
              <a:t>5. 战略启示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0" y="6565392"/>
            <a:ext cx="18288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0">
                <a:solidFill>
                  <a:srgbClr val="B7B7B7"/>
                </a:solidFill>
                <a:latin typeface="微软雅黑"/>
              </a:rPr>
              <a:t>麦肯锡风格分析框架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" y="1417320"/>
            <a:ext cx="5943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00295B"/>
                </a:solidFill>
                <a:latin typeface="微软雅黑"/>
              </a:rPr>
              <a:t>过专利原研药市场规模演变（亿元 CNY）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2246812"/>
            <a:ext cx="822960" cy="2508068"/>
          </a:xfrm>
          <a:prstGeom prst="rect">
            <a:avLst/>
          </a:prstGeom>
          <a:solidFill>
            <a:srgbClr val="0029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5760" y="1972492"/>
            <a:ext cx="1005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00295B"/>
                </a:solidFill>
                <a:latin typeface="微软雅黑"/>
              </a:rPr>
              <a:t>3,200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" y="4800600"/>
            <a:ext cx="10058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>
                <a:solidFill>
                  <a:srgbClr val="595959"/>
                </a:solidFill>
                <a:latin typeface="微软雅黑"/>
              </a:rPr>
              <a:t>2019</a:t>
            </a:r>
          </a:p>
          <a:p>
            <a:pPr algn="ctr"/>
            <a:r>
              <a:rPr sz="900" b="0">
                <a:solidFill>
                  <a:srgbClr val="595959"/>
                </a:solidFill>
                <a:latin typeface="微软雅黑"/>
              </a:rPr>
              <a:t>集采前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508760" y="3344092"/>
            <a:ext cx="822960" cy="1410788"/>
          </a:xfrm>
          <a:prstGeom prst="rect">
            <a:avLst/>
          </a:prstGeom>
          <a:solidFill>
            <a:srgbClr val="B7B7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417320" y="3069772"/>
            <a:ext cx="1005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00295B"/>
                </a:solidFill>
                <a:latin typeface="微软雅黑"/>
              </a:rPr>
              <a:t>1,800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17320" y="4800600"/>
            <a:ext cx="10058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>
                <a:solidFill>
                  <a:srgbClr val="595959"/>
                </a:solidFill>
                <a:latin typeface="微软雅黑"/>
              </a:rPr>
              <a:t>2024</a:t>
            </a:r>
          </a:p>
          <a:p>
            <a:pPr algn="ctr"/>
            <a:r>
              <a:rPr sz="900" b="0">
                <a:solidFill>
                  <a:srgbClr val="595959"/>
                </a:solidFill>
                <a:latin typeface="微软雅黑"/>
              </a:rPr>
              <a:t>集采后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560320" y="4558938"/>
            <a:ext cx="822960" cy="195942"/>
          </a:xfrm>
          <a:prstGeom prst="rect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468880" y="4284618"/>
            <a:ext cx="1005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00295B"/>
                </a:solidFill>
                <a:latin typeface="微软雅黑"/>
              </a:rPr>
              <a:t>250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468880" y="4800600"/>
            <a:ext cx="10058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>
                <a:solidFill>
                  <a:srgbClr val="595959"/>
                </a:solidFill>
                <a:latin typeface="微软雅黑"/>
              </a:rPr>
              <a:t>回流</a:t>
            </a:r>
          </a:p>
          <a:p>
            <a:pPr algn="ctr"/>
            <a:r>
              <a:rPr sz="900" b="0">
                <a:solidFill>
                  <a:srgbClr val="595959"/>
                </a:solidFill>
                <a:latin typeface="微软雅黑"/>
              </a:rPr>
              <a:t>增量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611880" y="4676503"/>
            <a:ext cx="822960" cy="78377"/>
          </a:xfrm>
          <a:prstGeom prst="rect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520440" y="4402183"/>
            <a:ext cx="1005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00295B"/>
                </a:solidFill>
                <a:latin typeface="微软雅黑"/>
              </a:rPr>
              <a:t>100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520440" y="4800600"/>
            <a:ext cx="10058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>
                <a:solidFill>
                  <a:srgbClr val="595959"/>
                </a:solidFill>
                <a:latin typeface="微软雅黑"/>
              </a:rPr>
              <a:t>商保+</a:t>
            </a:r>
          </a:p>
          <a:p>
            <a:pPr algn="ctr"/>
            <a:r>
              <a:rPr sz="900" b="0">
                <a:solidFill>
                  <a:srgbClr val="595959"/>
                </a:solidFill>
                <a:latin typeface="微软雅黑"/>
              </a:rPr>
              <a:t>双通道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663440" y="3069772"/>
            <a:ext cx="822960" cy="1685108"/>
          </a:xfrm>
          <a:prstGeom prst="rect">
            <a:avLst/>
          </a:prstGeom>
          <a:solidFill>
            <a:srgbClr val="E871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572000" y="2795452"/>
            <a:ext cx="1005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00295B"/>
                </a:solidFill>
                <a:latin typeface="微软雅黑"/>
              </a:rPr>
              <a:t>2,150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72000" y="4800600"/>
            <a:ext cx="10058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>
                <a:solidFill>
                  <a:srgbClr val="595959"/>
                </a:solidFill>
                <a:latin typeface="微软雅黑"/>
              </a:rPr>
              <a:t>2028E</a:t>
            </a:r>
          </a:p>
          <a:p>
            <a:pPr algn="ctr"/>
            <a:r>
              <a:rPr sz="900" b="0">
                <a:solidFill>
                  <a:srgbClr val="595959"/>
                </a:solidFill>
                <a:latin typeface="微软雅黑"/>
              </a:rPr>
              <a:t>新平衡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365760" y="4754880"/>
            <a:ext cx="5577840" cy="0"/>
          </a:xfrm>
          <a:prstGeom prst="line">
            <a:avLst/>
          </a:prstGeom>
          <a:ln w="12700">
            <a:solidFill>
              <a:srgbClr val="59595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6583680" y="141732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00295B"/>
                </a:solidFill>
                <a:latin typeface="微软雅黑"/>
              </a:rPr>
              <a:t>2024 市场结构 (1,800 亿) → 2028E 渠道重构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583680" y="192024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595959"/>
                </a:solidFill>
                <a:latin typeface="微软雅黑"/>
              </a:rPr>
              <a:t>2024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498079" y="1920240"/>
            <a:ext cx="1536192" cy="365760"/>
          </a:xfrm>
          <a:prstGeom prst="rect">
            <a:avLst/>
          </a:prstGeom>
          <a:solidFill>
            <a:srgbClr val="006B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498079" y="1920240"/>
            <a:ext cx="1536192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>
                <a:solidFill>
                  <a:srgbClr val="00295B"/>
                </a:solidFill>
                <a:latin typeface="微软雅黑"/>
              </a:rPr>
              <a:t>35%</a:t>
            </a:r>
          </a:p>
        </p:txBody>
      </p:sp>
      <p:sp>
        <p:nvSpPr>
          <p:cNvPr id="40" name="Rectangle 39"/>
          <p:cNvSpPr/>
          <p:nvPr/>
        </p:nvSpPr>
        <p:spPr>
          <a:xfrm>
            <a:off x="9034271" y="1920240"/>
            <a:ext cx="1228953" cy="365760"/>
          </a:xfrm>
          <a:prstGeom prst="rect">
            <a:avLst/>
          </a:prstGeom>
          <a:solidFill>
            <a:srgbClr val="CFE2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034271" y="1920240"/>
            <a:ext cx="1228953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>
                <a:solidFill>
                  <a:srgbClr val="00295B"/>
                </a:solidFill>
                <a:latin typeface="微软雅黑"/>
              </a:rPr>
              <a:t>28%</a:t>
            </a:r>
          </a:p>
        </p:txBody>
      </p:sp>
      <p:sp>
        <p:nvSpPr>
          <p:cNvPr id="42" name="Rectangle 41"/>
          <p:cNvSpPr/>
          <p:nvPr/>
        </p:nvSpPr>
        <p:spPr>
          <a:xfrm>
            <a:off x="10263224" y="1920240"/>
            <a:ext cx="965606" cy="365760"/>
          </a:xfrm>
          <a:prstGeom prst="rect">
            <a:avLst/>
          </a:prstGeom>
          <a:solidFill>
            <a:srgbClr val="B7B7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0263224" y="1920240"/>
            <a:ext cx="965606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>
                <a:solidFill>
                  <a:srgbClr val="00295B"/>
                </a:solidFill>
                <a:latin typeface="微软雅黑"/>
              </a:rPr>
              <a:t>22%</a:t>
            </a:r>
          </a:p>
        </p:txBody>
      </p:sp>
      <p:sp>
        <p:nvSpPr>
          <p:cNvPr id="44" name="Rectangle 43"/>
          <p:cNvSpPr/>
          <p:nvPr/>
        </p:nvSpPr>
        <p:spPr>
          <a:xfrm>
            <a:off x="11228830" y="1920240"/>
            <a:ext cx="658368" cy="36576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1228830" y="1920240"/>
            <a:ext cx="658368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>
                <a:solidFill>
                  <a:srgbClr val="00295B"/>
                </a:solidFill>
                <a:latin typeface="微软雅黑"/>
              </a:rPr>
              <a:t>15%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583680" y="246888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595959"/>
                </a:solidFill>
                <a:latin typeface="微软雅黑"/>
              </a:rPr>
              <a:t>2028E</a:t>
            </a:r>
          </a:p>
        </p:txBody>
      </p:sp>
      <p:sp>
        <p:nvSpPr>
          <p:cNvPr id="47" name="Rectangle 46"/>
          <p:cNvSpPr/>
          <p:nvPr/>
        </p:nvSpPr>
        <p:spPr>
          <a:xfrm>
            <a:off x="7498079" y="2468880"/>
            <a:ext cx="1097280" cy="365760"/>
          </a:xfrm>
          <a:prstGeom prst="rect">
            <a:avLst/>
          </a:prstGeom>
          <a:solidFill>
            <a:srgbClr val="006B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498079" y="2468880"/>
            <a:ext cx="10972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微软雅黑"/>
              </a:rPr>
              <a:t>25%</a:t>
            </a:r>
          </a:p>
        </p:txBody>
      </p:sp>
      <p:sp>
        <p:nvSpPr>
          <p:cNvPr id="49" name="Rectangle 48"/>
          <p:cNvSpPr/>
          <p:nvPr/>
        </p:nvSpPr>
        <p:spPr>
          <a:xfrm>
            <a:off x="8595359" y="2468880"/>
            <a:ext cx="965606" cy="365760"/>
          </a:xfrm>
          <a:prstGeom prst="rect">
            <a:avLst/>
          </a:prstGeom>
          <a:solidFill>
            <a:srgbClr val="CFE2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595359" y="2468880"/>
            <a:ext cx="965606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>
                <a:solidFill>
                  <a:srgbClr val="00295B"/>
                </a:solidFill>
                <a:latin typeface="微软雅黑"/>
              </a:rPr>
              <a:t>22%</a:t>
            </a:r>
          </a:p>
        </p:txBody>
      </p:sp>
      <p:sp>
        <p:nvSpPr>
          <p:cNvPr id="51" name="Rectangle 50"/>
          <p:cNvSpPr/>
          <p:nvPr/>
        </p:nvSpPr>
        <p:spPr>
          <a:xfrm>
            <a:off x="9560965" y="2468880"/>
            <a:ext cx="658368" cy="365760"/>
          </a:xfrm>
          <a:prstGeom prst="rect">
            <a:avLst/>
          </a:prstGeom>
          <a:solidFill>
            <a:srgbClr val="B7B7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9560965" y="2468880"/>
            <a:ext cx="658368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>
                <a:solidFill>
                  <a:srgbClr val="00295B"/>
                </a:solidFill>
                <a:latin typeface="微软雅黑"/>
              </a:rPr>
              <a:t>15%</a:t>
            </a:r>
          </a:p>
        </p:txBody>
      </p:sp>
      <p:sp>
        <p:nvSpPr>
          <p:cNvPr id="53" name="Rectangle 52"/>
          <p:cNvSpPr/>
          <p:nvPr/>
        </p:nvSpPr>
        <p:spPr>
          <a:xfrm>
            <a:off x="10219333" y="2468880"/>
            <a:ext cx="1316736" cy="365760"/>
          </a:xfrm>
          <a:prstGeom prst="rect">
            <a:avLst/>
          </a:prstGeom>
          <a:solidFill>
            <a:srgbClr val="E871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10219333" y="2468880"/>
            <a:ext cx="1316736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微软雅黑"/>
              </a:rPr>
              <a:t>30%</a:t>
            </a:r>
          </a:p>
        </p:txBody>
      </p:sp>
      <p:sp>
        <p:nvSpPr>
          <p:cNvPr id="55" name="Rectangle 54"/>
          <p:cNvSpPr/>
          <p:nvPr/>
        </p:nvSpPr>
        <p:spPr>
          <a:xfrm>
            <a:off x="11536069" y="2468880"/>
            <a:ext cx="351129" cy="365760"/>
          </a:xfrm>
          <a:prstGeom prst="rect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11536069" y="2468880"/>
            <a:ext cx="351129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微软雅黑"/>
              </a:rPr>
              <a:t>8%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583680" y="310896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>
                <a:solidFill>
                  <a:srgbClr val="00295B"/>
                </a:solidFill>
                <a:latin typeface="微软雅黑"/>
              </a:rPr>
              <a:t>关键洞察：公立医院渠道占比从 15% → 30%，是最大结构性变化</a:t>
            </a:r>
          </a:p>
        </p:txBody>
      </p:sp>
      <p:sp>
        <p:nvSpPr>
          <p:cNvPr id="58" name="Rectangle 57"/>
          <p:cNvSpPr/>
          <p:nvPr/>
        </p:nvSpPr>
        <p:spPr>
          <a:xfrm>
            <a:off x="6583680" y="3566160"/>
            <a:ext cx="5212080" cy="246888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6720840" y="3657600"/>
            <a:ext cx="5029200" cy="2377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595959"/>
                </a:solidFill>
                <a:latin typeface="微软雅黑"/>
              </a:rPr>
              <a:t>三大量化结论</a:t>
            </a:r>
          </a:p>
          <a:p>
            <a:pPr algn="l"/>
            <a:r>
              <a:rPr sz="1050" b="0">
                <a:solidFill>
                  <a:srgbClr val="595959"/>
                </a:solidFill>
                <a:latin typeface="微软雅黑"/>
              </a:rPr>
              <a:t/>
            </a:r>
          </a:p>
          <a:p>
            <a:pPr algn="l"/>
            <a:r>
              <a:rPr sz="1050" b="0">
                <a:solidFill>
                  <a:srgbClr val="595959"/>
                </a:solidFill>
                <a:latin typeface="微软雅黑"/>
              </a:rPr>
              <a:t>1. 院内回流增量 ≈ 250 亿元 (公立医院渠道占比 +15 pp × 1,800 亿基数 × 80% 实现率)</a:t>
            </a:r>
          </a:p>
          <a:p>
            <a:pPr algn="l"/>
            <a:r>
              <a:rPr sz="1050" b="0">
                <a:solidFill>
                  <a:srgbClr val="595959"/>
                </a:solidFill>
                <a:latin typeface="微软雅黑"/>
              </a:rPr>
              <a:t/>
            </a:r>
          </a:p>
          <a:p>
            <a:pPr algn="l"/>
            <a:r>
              <a:rPr sz="1050" b="0">
                <a:solidFill>
                  <a:srgbClr val="595959"/>
                </a:solidFill>
                <a:latin typeface="微软雅黑"/>
              </a:rPr>
              <a:t>2. 商保+双通道增量 ≈ 100 亿元 (商保创新药目录覆盖 5–10% 高单价品种)</a:t>
            </a:r>
          </a:p>
          <a:p>
            <a:pPr algn="l"/>
            <a:r>
              <a:rPr sz="1050" b="0">
                <a:solidFill>
                  <a:srgbClr val="595959"/>
                </a:solidFill>
                <a:latin typeface="微软雅黑"/>
              </a:rPr>
              <a:t/>
            </a:r>
          </a:p>
          <a:p>
            <a:pPr algn="l"/>
            <a:r>
              <a:rPr sz="1050" b="0">
                <a:solidFill>
                  <a:srgbClr val="595959"/>
                </a:solidFill>
                <a:latin typeface="微软雅黑"/>
              </a:rPr>
              <a:t>3. 整体市场 2024–28 CAGR 约 +3.6%，由「负 15%」转为「正增长」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365760" y="6263640"/>
            <a:ext cx="11430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B7B7B7"/>
                </a:solidFill>
                <a:latin typeface="微软雅黑"/>
              </a:rPr>
              <a:t>资料来源：弗若斯特沙利文中国医药市场报告 (2024)；IQVIA China Pharmaceutical Review；米内网；本团队基于政策传导模型测算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29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B7B7B7"/>
                </a:solidFill>
                <a:latin typeface="微软雅黑"/>
              </a:rPr>
              <a:t>晖致中国业绩影响研判  |  医保新政分析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24160" y="164592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B7B7B7"/>
                </a:solidFill>
                <a:latin typeface="微软雅黑"/>
              </a:rPr>
              <a:t>8 / 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411480"/>
            <a:ext cx="115214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00295B"/>
                </a:solidFill>
                <a:latin typeface="微软雅黑"/>
              </a:rPr>
              <a:t>晖致中国是公司全球唯一保持正增长的区域市场，战略权重持续上升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886968"/>
            <a:ext cx="115214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  <a:latin typeface="微软雅黑"/>
              </a:rPr>
              <a:t>中国区收入 2024 +2% YoY、2025 Q2 +9% YoY，已成为支撑 Viatris 全球业绩的「压舱石」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365760" y="1207008"/>
            <a:ext cx="11457432" cy="0"/>
          </a:xfrm>
          <a:prstGeom prst="line">
            <a:avLst/>
          </a:prstGeom>
          <a:ln w="15875">
            <a:solidFill>
              <a:srgbClr val="0029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365760" y="6537960"/>
            <a:ext cx="1463040" cy="22860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6537960"/>
            <a:ext cx="146304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50" b="1">
                <a:solidFill>
                  <a:srgbClr val="595959"/>
                </a:solidFill>
                <a:latin typeface="微软雅黑"/>
              </a:rPr>
              <a:t>1. 政策背景</a:t>
            </a:r>
          </a:p>
        </p:txBody>
      </p:sp>
      <p:sp>
        <p:nvSpPr>
          <p:cNvPr id="10" name="Rectangle 9"/>
          <p:cNvSpPr/>
          <p:nvPr/>
        </p:nvSpPr>
        <p:spPr>
          <a:xfrm>
            <a:off x="1920240" y="6537960"/>
            <a:ext cx="1463040" cy="22860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920240" y="6537960"/>
            <a:ext cx="146304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50" b="1">
                <a:solidFill>
                  <a:srgbClr val="595959"/>
                </a:solidFill>
                <a:latin typeface="微软雅黑"/>
              </a:rPr>
              <a:t>2. 新政详解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474720" y="6537960"/>
            <a:ext cx="1463040" cy="22860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74720" y="6537960"/>
            <a:ext cx="146304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50" b="1">
                <a:solidFill>
                  <a:srgbClr val="595959"/>
                </a:solidFill>
                <a:latin typeface="微软雅黑"/>
              </a:rPr>
              <a:t>3. 市场影响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0" y="6537960"/>
            <a:ext cx="1463040" cy="228600"/>
          </a:xfrm>
          <a:prstGeom prst="rect">
            <a:avLst/>
          </a:prstGeom>
          <a:solidFill>
            <a:srgbClr val="0029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0" y="6537960"/>
            <a:ext cx="146304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微软雅黑"/>
              </a:rPr>
              <a:t>4. 晖致研判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583680" y="6537960"/>
            <a:ext cx="1463040" cy="22860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0" y="6537960"/>
            <a:ext cx="146304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50" b="1">
                <a:solidFill>
                  <a:srgbClr val="595959"/>
                </a:solidFill>
                <a:latin typeface="微软雅黑"/>
              </a:rPr>
              <a:t>5. 战略启示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0" y="6565392"/>
            <a:ext cx="18288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0">
                <a:solidFill>
                  <a:srgbClr val="B7B7B7"/>
                </a:solidFill>
                <a:latin typeface="微软雅黑"/>
              </a:rPr>
              <a:t>麦肯锡风格分析框架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" y="141732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00295B"/>
                </a:solidFill>
                <a:latin typeface="微软雅黑"/>
              </a:rPr>
              <a:t>晖致 (Viatris, NASDAQ: VTRS) 关键财务指标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" y="1828800"/>
            <a:ext cx="1737360" cy="1280160"/>
          </a:xfrm>
          <a:prstGeom prst="rect">
            <a:avLst/>
          </a:prstGeom>
          <a:solidFill>
            <a:srgbClr val="FFFFFF"/>
          </a:solidFill>
          <a:ln>
            <a:solidFill>
              <a:srgbClr val="B7B7B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65760" y="1828800"/>
            <a:ext cx="54864" cy="128016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2920" y="1920240"/>
            <a:ext cx="15544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00295B"/>
                </a:solidFill>
                <a:latin typeface="微软雅黑"/>
              </a:rPr>
              <a:t>$14.7B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2377440"/>
            <a:ext cx="15544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595959"/>
                </a:solidFill>
                <a:latin typeface="微软雅黑"/>
              </a:rPr>
              <a:t>2024 全球收入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2697480"/>
            <a:ext cx="15544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C0392B"/>
                </a:solidFill>
                <a:latin typeface="微软雅黑"/>
              </a:rPr>
              <a:t>YoY -4%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240279" y="1828800"/>
            <a:ext cx="1737360" cy="1280160"/>
          </a:xfrm>
          <a:prstGeom prst="rect">
            <a:avLst/>
          </a:prstGeom>
          <a:solidFill>
            <a:srgbClr val="FFFFFF"/>
          </a:solidFill>
          <a:ln>
            <a:solidFill>
              <a:srgbClr val="B7B7B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2240279" y="1828800"/>
            <a:ext cx="54864" cy="1280160"/>
          </a:xfrm>
          <a:prstGeom prst="rect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377439" y="1920240"/>
            <a:ext cx="15544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00295B"/>
                </a:solidFill>
                <a:latin typeface="微软雅黑"/>
              </a:rPr>
              <a:t>$2.17B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377439" y="2377440"/>
            <a:ext cx="15544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595959"/>
                </a:solidFill>
                <a:latin typeface="微软雅黑"/>
              </a:rPr>
              <a:t>2024 大中华区收入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377439" y="2697480"/>
            <a:ext cx="15544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2E8B57"/>
                </a:solidFill>
                <a:latin typeface="微软雅黑"/>
              </a:rPr>
              <a:t>YoY +2% (唯一增长区域)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114798" y="1828800"/>
            <a:ext cx="1737360" cy="1280160"/>
          </a:xfrm>
          <a:prstGeom prst="rect">
            <a:avLst/>
          </a:prstGeom>
          <a:solidFill>
            <a:srgbClr val="FFFFFF"/>
          </a:solidFill>
          <a:ln>
            <a:solidFill>
              <a:srgbClr val="B7B7B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114798" y="1828800"/>
            <a:ext cx="54864" cy="1280160"/>
          </a:xfrm>
          <a:prstGeom prst="rect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251958" y="1920240"/>
            <a:ext cx="15544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00295B"/>
                </a:solidFill>
                <a:latin typeface="微软雅黑"/>
              </a:rPr>
              <a:t>14.8%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251958" y="2377440"/>
            <a:ext cx="15544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595959"/>
                </a:solidFill>
                <a:latin typeface="微软雅黑"/>
              </a:rPr>
              <a:t>中国占全球收入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251958" y="2697480"/>
            <a:ext cx="15544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2E8B57"/>
                </a:solidFill>
                <a:latin typeface="微软雅黑"/>
              </a:rPr>
              <a:t>vs 2022 的 13.0%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65760" y="3246120"/>
            <a:ext cx="1737360" cy="1280160"/>
          </a:xfrm>
          <a:prstGeom prst="rect">
            <a:avLst/>
          </a:prstGeom>
          <a:solidFill>
            <a:srgbClr val="FFFFFF"/>
          </a:solidFill>
          <a:ln>
            <a:solidFill>
              <a:srgbClr val="B7B7B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365760" y="3246120"/>
            <a:ext cx="54864" cy="1280160"/>
          </a:xfrm>
          <a:prstGeom prst="rect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02920" y="3337560"/>
            <a:ext cx="15544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00295B"/>
                </a:solidFill>
                <a:latin typeface="微软雅黑"/>
              </a:rPr>
              <a:t>$589M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02920" y="3794760"/>
            <a:ext cx="15544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595959"/>
                </a:solidFill>
                <a:latin typeface="微软雅黑"/>
              </a:rPr>
              <a:t>2025 Q2 中国区单季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02920" y="4114800"/>
            <a:ext cx="15544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2E8B57"/>
                </a:solidFill>
                <a:latin typeface="微软雅黑"/>
              </a:rPr>
              <a:t>YoY +9%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240279" y="3246120"/>
            <a:ext cx="1737360" cy="1280160"/>
          </a:xfrm>
          <a:prstGeom prst="rect">
            <a:avLst/>
          </a:prstGeom>
          <a:solidFill>
            <a:srgbClr val="FFFFFF"/>
          </a:solidFill>
          <a:ln>
            <a:solidFill>
              <a:srgbClr val="B7B7B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2240279" y="3246120"/>
            <a:ext cx="54864" cy="1280160"/>
          </a:xfrm>
          <a:prstGeom prst="rect">
            <a:avLst/>
          </a:prstGeom>
          <a:solidFill>
            <a:srgbClr val="0029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2377439" y="3337560"/>
            <a:ext cx="15544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00295B"/>
                </a:solidFill>
                <a:latin typeface="微软雅黑"/>
              </a:rPr>
              <a:t>~85%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377439" y="3794760"/>
            <a:ext cx="15544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595959"/>
                </a:solidFill>
                <a:latin typeface="微软雅黑"/>
              </a:rPr>
              <a:t>中国收入来自品牌原研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377439" y="4114800"/>
            <a:ext cx="15544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00295B"/>
                </a:solidFill>
                <a:latin typeface="微软雅黑"/>
              </a:rPr>
              <a:t>立普妥、络活喜、万艾可为主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114798" y="3246120"/>
            <a:ext cx="1737360" cy="1280160"/>
          </a:xfrm>
          <a:prstGeom prst="rect">
            <a:avLst/>
          </a:prstGeom>
          <a:solidFill>
            <a:srgbClr val="FFFFFF"/>
          </a:solidFill>
          <a:ln>
            <a:solidFill>
              <a:srgbClr val="B7B7B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4114798" y="3246120"/>
            <a:ext cx="54864" cy="1280160"/>
          </a:xfrm>
          <a:prstGeom prst="rect">
            <a:avLst/>
          </a:prstGeom>
          <a:solidFill>
            <a:srgbClr val="0029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251958" y="3337560"/>
            <a:ext cx="15544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00295B"/>
                </a:solidFill>
                <a:latin typeface="微软雅黑"/>
              </a:rPr>
              <a:t>Top 1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251958" y="3794760"/>
            <a:ext cx="15544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595959"/>
                </a:solidFill>
                <a:latin typeface="微软雅黑"/>
              </a:rPr>
              <a:t>外资 OOP 在华市场地位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251958" y="4114800"/>
            <a:ext cx="15544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00295B"/>
                </a:solidFill>
                <a:latin typeface="微软雅黑"/>
              </a:rPr>
              <a:t>MNC 过专利原研药龙头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400800" y="141732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00295B"/>
                </a:solidFill>
                <a:latin typeface="微软雅黑"/>
              </a:rPr>
              <a:t>晖致中国核心产品组合 (2024)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400800" y="1828800"/>
            <a:ext cx="1188720" cy="457200"/>
          </a:xfrm>
          <a:prstGeom prst="rect">
            <a:avLst/>
          </a:prstGeom>
          <a:solidFill>
            <a:srgbClr val="0029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400800" y="1828800"/>
            <a:ext cx="118872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微软雅黑"/>
              </a:rPr>
              <a:t>产品(原研)</a:t>
            </a:r>
          </a:p>
        </p:txBody>
      </p:sp>
      <p:sp>
        <p:nvSpPr>
          <p:cNvPr id="53" name="Rectangle 52"/>
          <p:cNvSpPr/>
          <p:nvPr/>
        </p:nvSpPr>
        <p:spPr>
          <a:xfrm>
            <a:off x="7589520" y="1828800"/>
            <a:ext cx="1005840" cy="457200"/>
          </a:xfrm>
          <a:prstGeom prst="rect">
            <a:avLst/>
          </a:prstGeom>
          <a:solidFill>
            <a:srgbClr val="0029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7589520" y="1828800"/>
            <a:ext cx="100584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微软雅黑"/>
              </a:rPr>
              <a:t>通用名</a:t>
            </a:r>
          </a:p>
        </p:txBody>
      </p:sp>
      <p:sp>
        <p:nvSpPr>
          <p:cNvPr id="55" name="Rectangle 54"/>
          <p:cNvSpPr/>
          <p:nvPr/>
        </p:nvSpPr>
        <p:spPr>
          <a:xfrm>
            <a:off x="8595360" y="1828800"/>
            <a:ext cx="1005840" cy="457200"/>
          </a:xfrm>
          <a:prstGeom prst="rect">
            <a:avLst/>
          </a:prstGeom>
          <a:solidFill>
            <a:srgbClr val="0029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8595360" y="1828800"/>
            <a:ext cx="100584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微软雅黑"/>
              </a:rPr>
              <a:t>治疗领域</a:t>
            </a:r>
          </a:p>
        </p:txBody>
      </p:sp>
      <p:sp>
        <p:nvSpPr>
          <p:cNvPr id="57" name="Rectangle 56"/>
          <p:cNvSpPr/>
          <p:nvPr/>
        </p:nvSpPr>
        <p:spPr>
          <a:xfrm>
            <a:off x="9601200" y="1828800"/>
            <a:ext cx="1005840" cy="457200"/>
          </a:xfrm>
          <a:prstGeom prst="rect">
            <a:avLst/>
          </a:prstGeom>
          <a:solidFill>
            <a:srgbClr val="0029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9601200" y="1828800"/>
            <a:ext cx="100584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微软雅黑"/>
              </a:rPr>
              <a:t>集采状态</a:t>
            </a:r>
          </a:p>
        </p:txBody>
      </p:sp>
      <p:sp>
        <p:nvSpPr>
          <p:cNvPr id="59" name="Rectangle 58"/>
          <p:cNvSpPr/>
          <p:nvPr/>
        </p:nvSpPr>
        <p:spPr>
          <a:xfrm>
            <a:off x="10607040" y="1828800"/>
            <a:ext cx="914400" cy="457200"/>
          </a:xfrm>
          <a:prstGeom prst="rect">
            <a:avLst/>
          </a:prstGeom>
          <a:solidFill>
            <a:srgbClr val="0029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10607040" y="1828800"/>
            <a:ext cx="9144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微软雅黑"/>
              </a:rPr>
              <a:t>中国销售</a:t>
            </a:r>
          </a:p>
        </p:txBody>
      </p:sp>
      <p:sp>
        <p:nvSpPr>
          <p:cNvPr id="61" name="Rectangle 60"/>
          <p:cNvSpPr/>
          <p:nvPr/>
        </p:nvSpPr>
        <p:spPr>
          <a:xfrm>
            <a:off x="11521440" y="1828800"/>
            <a:ext cx="640080" cy="457200"/>
          </a:xfrm>
          <a:prstGeom prst="rect">
            <a:avLst/>
          </a:prstGeom>
          <a:solidFill>
            <a:srgbClr val="0029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11521440" y="1828800"/>
            <a:ext cx="64008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微软雅黑"/>
              </a:rPr>
              <a:t>趋势</a:t>
            </a:r>
          </a:p>
        </p:txBody>
      </p:sp>
      <p:sp>
        <p:nvSpPr>
          <p:cNvPr id="63" name="Rectangle 62"/>
          <p:cNvSpPr/>
          <p:nvPr/>
        </p:nvSpPr>
        <p:spPr>
          <a:xfrm>
            <a:off x="6400800" y="2286000"/>
            <a:ext cx="1188720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6400800" y="2286000"/>
            <a:ext cx="118872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50" b="1">
                <a:solidFill>
                  <a:srgbClr val="595959"/>
                </a:solidFill>
                <a:latin typeface="微软雅黑"/>
              </a:rPr>
              <a:t>立普妥</a:t>
            </a:r>
          </a:p>
        </p:txBody>
      </p:sp>
      <p:sp>
        <p:nvSpPr>
          <p:cNvPr id="65" name="Rectangle 64"/>
          <p:cNvSpPr/>
          <p:nvPr/>
        </p:nvSpPr>
        <p:spPr>
          <a:xfrm>
            <a:off x="7589520" y="2286000"/>
            <a:ext cx="1005840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7589520" y="2286000"/>
            <a:ext cx="100584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50" b="0">
                <a:solidFill>
                  <a:srgbClr val="595959"/>
                </a:solidFill>
                <a:latin typeface="微软雅黑"/>
              </a:rPr>
              <a:t>阿托伐他汀</a:t>
            </a:r>
          </a:p>
        </p:txBody>
      </p:sp>
      <p:sp>
        <p:nvSpPr>
          <p:cNvPr id="67" name="Rectangle 66"/>
          <p:cNvSpPr/>
          <p:nvPr/>
        </p:nvSpPr>
        <p:spPr>
          <a:xfrm>
            <a:off x="8595360" y="2286000"/>
            <a:ext cx="1005840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8595360" y="2286000"/>
            <a:ext cx="100584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50" b="0">
                <a:solidFill>
                  <a:srgbClr val="595959"/>
                </a:solidFill>
                <a:latin typeface="微软雅黑"/>
              </a:rPr>
              <a:t>降脂</a:t>
            </a:r>
          </a:p>
        </p:txBody>
      </p:sp>
      <p:sp>
        <p:nvSpPr>
          <p:cNvPr id="69" name="Rectangle 68"/>
          <p:cNvSpPr/>
          <p:nvPr/>
        </p:nvSpPr>
        <p:spPr>
          <a:xfrm>
            <a:off x="9601200" y="2286000"/>
            <a:ext cx="1005840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9601200" y="2286000"/>
            <a:ext cx="100584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50" b="0">
                <a:solidFill>
                  <a:srgbClr val="595959"/>
                </a:solidFill>
                <a:latin typeface="微软雅黑"/>
              </a:rPr>
              <a:t>国采3批 (2020)</a:t>
            </a:r>
          </a:p>
        </p:txBody>
      </p:sp>
      <p:sp>
        <p:nvSpPr>
          <p:cNvPr id="71" name="Rectangle 70"/>
          <p:cNvSpPr/>
          <p:nvPr/>
        </p:nvSpPr>
        <p:spPr>
          <a:xfrm>
            <a:off x="10607040" y="2286000"/>
            <a:ext cx="914400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10607040" y="2286000"/>
            <a:ext cx="9144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50" b="0">
                <a:solidFill>
                  <a:srgbClr val="595959"/>
                </a:solidFill>
                <a:latin typeface="微软雅黑"/>
              </a:rPr>
              <a:t>~$650M</a:t>
            </a:r>
          </a:p>
        </p:txBody>
      </p:sp>
      <p:sp>
        <p:nvSpPr>
          <p:cNvPr id="73" name="Rectangle 72"/>
          <p:cNvSpPr/>
          <p:nvPr/>
        </p:nvSpPr>
        <p:spPr>
          <a:xfrm>
            <a:off x="11521440" y="2286000"/>
            <a:ext cx="640080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11521440" y="2286000"/>
            <a:ext cx="64008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50" b="1">
                <a:solidFill>
                  <a:srgbClr val="2E8B57"/>
                </a:solidFill>
                <a:latin typeface="微软雅黑"/>
              </a:rPr>
              <a:t>↗</a:t>
            </a:r>
          </a:p>
        </p:txBody>
      </p:sp>
      <p:sp>
        <p:nvSpPr>
          <p:cNvPr id="75" name="Rectangle 74"/>
          <p:cNvSpPr/>
          <p:nvPr/>
        </p:nvSpPr>
        <p:spPr>
          <a:xfrm>
            <a:off x="6400800" y="2743200"/>
            <a:ext cx="1188720" cy="45720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6400800" y="2743200"/>
            <a:ext cx="118872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50" b="1">
                <a:solidFill>
                  <a:srgbClr val="595959"/>
                </a:solidFill>
                <a:latin typeface="微软雅黑"/>
              </a:rPr>
              <a:t>络活喜</a:t>
            </a:r>
          </a:p>
        </p:txBody>
      </p:sp>
      <p:sp>
        <p:nvSpPr>
          <p:cNvPr id="77" name="Rectangle 76"/>
          <p:cNvSpPr/>
          <p:nvPr/>
        </p:nvSpPr>
        <p:spPr>
          <a:xfrm>
            <a:off x="7589520" y="2743200"/>
            <a:ext cx="1005840" cy="45720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7589520" y="2743200"/>
            <a:ext cx="100584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50" b="0">
                <a:solidFill>
                  <a:srgbClr val="595959"/>
                </a:solidFill>
                <a:latin typeface="微软雅黑"/>
              </a:rPr>
              <a:t>氨氯地平</a:t>
            </a:r>
          </a:p>
        </p:txBody>
      </p:sp>
      <p:sp>
        <p:nvSpPr>
          <p:cNvPr id="79" name="Rectangle 78"/>
          <p:cNvSpPr/>
          <p:nvPr/>
        </p:nvSpPr>
        <p:spPr>
          <a:xfrm>
            <a:off x="8595360" y="2743200"/>
            <a:ext cx="1005840" cy="45720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8595360" y="2743200"/>
            <a:ext cx="100584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50" b="0">
                <a:solidFill>
                  <a:srgbClr val="595959"/>
                </a:solidFill>
                <a:latin typeface="微软雅黑"/>
              </a:rPr>
              <a:t>降压</a:t>
            </a:r>
          </a:p>
        </p:txBody>
      </p:sp>
      <p:sp>
        <p:nvSpPr>
          <p:cNvPr id="81" name="Rectangle 80"/>
          <p:cNvSpPr/>
          <p:nvPr/>
        </p:nvSpPr>
        <p:spPr>
          <a:xfrm>
            <a:off x="9601200" y="2743200"/>
            <a:ext cx="1005840" cy="45720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9601200" y="2743200"/>
            <a:ext cx="100584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50" b="0">
                <a:solidFill>
                  <a:srgbClr val="595959"/>
                </a:solidFill>
                <a:latin typeface="微软雅黑"/>
              </a:rPr>
              <a:t>4+7 (2019)</a:t>
            </a:r>
          </a:p>
        </p:txBody>
      </p:sp>
      <p:sp>
        <p:nvSpPr>
          <p:cNvPr id="83" name="Rectangle 82"/>
          <p:cNvSpPr/>
          <p:nvPr/>
        </p:nvSpPr>
        <p:spPr>
          <a:xfrm>
            <a:off x="10607040" y="2743200"/>
            <a:ext cx="914400" cy="45720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10607040" y="2743200"/>
            <a:ext cx="9144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50" b="0">
                <a:solidFill>
                  <a:srgbClr val="595959"/>
                </a:solidFill>
                <a:latin typeface="微软雅黑"/>
              </a:rPr>
              <a:t>~$520M</a:t>
            </a:r>
          </a:p>
        </p:txBody>
      </p:sp>
      <p:sp>
        <p:nvSpPr>
          <p:cNvPr id="85" name="Rectangle 84"/>
          <p:cNvSpPr/>
          <p:nvPr/>
        </p:nvSpPr>
        <p:spPr>
          <a:xfrm>
            <a:off x="11521440" y="2743200"/>
            <a:ext cx="640080" cy="45720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11521440" y="2743200"/>
            <a:ext cx="64008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50" b="1">
                <a:solidFill>
                  <a:srgbClr val="2E8B57"/>
                </a:solidFill>
                <a:latin typeface="微软雅黑"/>
              </a:rPr>
              <a:t>↗</a:t>
            </a:r>
          </a:p>
        </p:txBody>
      </p:sp>
      <p:sp>
        <p:nvSpPr>
          <p:cNvPr id="87" name="Rectangle 86"/>
          <p:cNvSpPr/>
          <p:nvPr/>
        </p:nvSpPr>
        <p:spPr>
          <a:xfrm>
            <a:off x="6400800" y="3200400"/>
            <a:ext cx="1188720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6400800" y="3200400"/>
            <a:ext cx="118872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50" b="1">
                <a:solidFill>
                  <a:srgbClr val="595959"/>
                </a:solidFill>
                <a:latin typeface="微软雅黑"/>
              </a:rPr>
              <a:t>万艾可</a:t>
            </a:r>
          </a:p>
        </p:txBody>
      </p:sp>
      <p:sp>
        <p:nvSpPr>
          <p:cNvPr id="89" name="Rectangle 88"/>
          <p:cNvSpPr/>
          <p:nvPr/>
        </p:nvSpPr>
        <p:spPr>
          <a:xfrm>
            <a:off x="7589520" y="3200400"/>
            <a:ext cx="1005840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7589520" y="3200400"/>
            <a:ext cx="100584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50" b="0">
                <a:solidFill>
                  <a:srgbClr val="595959"/>
                </a:solidFill>
                <a:latin typeface="微软雅黑"/>
              </a:rPr>
              <a:t>西地那非</a:t>
            </a:r>
          </a:p>
        </p:txBody>
      </p:sp>
      <p:sp>
        <p:nvSpPr>
          <p:cNvPr id="91" name="Rectangle 90"/>
          <p:cNvSpPr/>
          <p:nvPr/>
        </p:nvSpPr>
        <p:spPr>
          <a:xfrm>
            <a:off x="8595360" y="3200400"/>
            <a:ext cx="1005840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8595360" y="3200400"/>
            <a:ext cx="100584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50" b="0">
                <a:solidFill>
                  <a:srgbClr val="595959"/>
                </a:solidFill>
                <a:latin typeface="微软雅黑"/>
              </a:rPr>
              <a:t>ED</a:t>
            </a:r>
          </a:p>
        </p:txBody>
      </p:sp>
      <p:sp>
        <p:nvSpPr>
          <p:cNvPr id="93" name="Rectangle 92"/>
          <p:cNvSpPr/>
          <p:nvPr/>
        </p:nvSpPr>
        <p:spPr>
          <a:xfrm>
            <a:off x="9601200" y="3200400"/>
            <a:ext cx="1005840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9601200" y="3200400"/>
            <a:ext cx="100584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50" b="0">
                <a:solidFill>
                  <a:srgbClr val="595959"/>
                </a:solidFill>
                <a:latin typeface="微软雅黑"/>
              </a:rPr>
              <a:t>国采7批 (2022)</a:t>
            </a:r>
          </a:p>
        </p:txBody>
      </p:sp>
      <p:sp>
        <p:nvSpPr>
          <p:cNvPr id="95" name="Rectangle 94"/>
          <p:cNvSpPr/>
          <p:nvPr/>
        </p:nvSpPr>
        <p:spPr>
          <a:xfrm>
            <a:off x="10607040" y="3200400"/>
            <a:ext cx="914400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10607040" y="3200400"/>
            <a:ext cx="9144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50" b="0">
                <a:solidFill>
                  <a:srgbClr val="595959"/>
                </a:solidFill>
                <a:latin typeface="微软雅黑"/>
              </a:rPr>
              <a:t>~$280M</a:t>
            </a:r>
          </a:p>
        </p:txBody>
      </p:sp>
      <p:sp>
        <p:nvSpPr>
          <p:cNvPr id="97" name="Rectangle 96"/>
          <p:cNvSpPr/>
          <p:nvPr/>
        </p:nvSpPr>
        <p:spPr>
          <a:xfrm>
            <a:off x="11521440" y="3200400"/>
            <a:ext cx="640080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11521440" y="3200400"/>
            <a:ext cx="64008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50" b="1">
                <a:solidFill>
                  <a:srgbClr val="595959"/>
                </a:solidFill>
                <a:latin typeface="微软雅黑"/>
              </a:rPr>
              <a:t>→</a:t>
            </a:r>
          </a:p>
        </p:txBody>
      </p:sp>
      <p:sp>
        <p:nvSpPr>
          <p:cNvPr id="99" name="Rectangle 98"/>
          <p:cNvSpPr/>
          <p:nvPr/>
        </p:nvSpPr>
        <p:spPr>
          <a:xfrm>
            <a:off x="6400800" y="3657600"/>
            <a:ext cx="1188720" cy="45720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6400800" y="3657600"/>
            <a:ext cx="118872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50" b="1">
                <a:solidFill>
                  <a:srgbClr val="595959"/>
                </a:solidFill>
                <a:latin typeface="微软雅黑"/>
              </a:rPr>
              <a:t>赛可瑞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7589520" y="3657600"/>
            <a:ext cx="1005840" cy="45720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7589520" y="3657600"/>
            <a:ext cx="100584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50" b="0">
                <a:solidFill>
                  <a:srgbClr val="595959"/>
                </a:solidFill>
                <a:latin typeface="微软雅黑"/>
              </a:rPr>
              <a:t>克唑替尼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8595360" y="3657600"/>
            <a:ext cx="1005840" cy="45720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8595360" y="3657600"/>
            <a:ext cx="100584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50" b="0">
                <a:solidFill>
                  <a:srgbClr val="595959"/>
                </a:solidFill>
                <a:latin typeface="微软雅黑"/>
              </a:rPr>
              <a:t>肿瘤(NSCLC)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9601200" y="3657600"/>
            <a:ext cx="1005840" cy="45720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9601200" y="3657600"/>
            <a:ext cx="100584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50" b="0">
                <a:solidFill>
                  <a:srgbClr val="595959"/>
                </a:solidFill>
                <a:latin typeface="微软雅黑"/>
              </a:rPr>
              <a:t>国谈降价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10607040" y="3657600"/>
            <a:ext cx="914400" cy="45720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TextBox 107"/>
          <p:cNvSpPr txBox="1"/>
          <p:nvPr/>
        </p:nvSpPr>
        <p:spPr>
          <a:xfrm>
            <a:off x="10607040" y="3657600"/>
            <a:ext cx="9144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50" b="0">
                <a:solidFill>
                  <a:srgbClr val="595959"/>
                </a:solidFill>
                <a:latin typeface="微软雅黑"/>
              </a:rPr>
              <a:t>~$180M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11521440" y="3657600"/>
            <a:ext cx="640080" cy="45720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TextBox 109"/>
          <p:cNvSpPr txBox="1"/>
          <p:nvPr/>
        </p:nvSpPr>
        <p:spPr>
          <a:xfrm>
            <a:off x="11521440" y="3657600"/>
            <a:ext cx="64008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50" b="1">
                <a:solidFill>
                  <a:srgbClr val="C0392B"/>
                </a:solidFill>
                <a:latin typeface="微软雅黑"/>
              </a:rPr>
              <a:t>↘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6400800" y="4114800"/>
            <a:ext cx="1188720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6400800" y="4114800"/>
            <a:ext cx="118872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50" b="1">
                <a:solidFill>
                  <a:srgbClr val="595959"/>
                </a:solidFill>
                <a:latin typeface="微软雅黑"/>
              </a:rPr>
              <a:t>欣百达</a:t>
            </a:r>
          </a:p>
        </p:txBody>
      </p:sp>
      <p:sp>
        <p:nvSpPr>
          <p:cNvPr id="113" name="Rectangle 112"/>
          <p:cNvSpPr/>
          <p:nvPr/>
        </p:nvSpPr>
        <p:spPr>
          <a:xfrm>
            <a:off x="7589520" y="4114800"/>
            <a:ext cx="1005840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TextBox 113"/>
          <p:cNvSpPr txBox="1"/>
          <p:nvPr/>
        </p:nvSpPr>
        <p:spPr>
          <a:xfrm>
            <a:off x="7589520" y="4114800"/>
            <a:ext cx="100584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50" b="0">
                <a:solidFill>
                  <a:srgbClr val="595959"/>
                </a:solidFill>
                <a:latin typeface="微软雅黑"/>
              </a:rPr>
              <a:t>度洛西汀</a:t>
            </a:r>
          </a:p>
        </p:txBody>
      </p:sp>
      <p:sp>
        <p:nvSpPr>
          <p:cNvPr id="115" name="Rectangle 114"/>
          <p:cNvSpPr/>
          <p:nvPr/>
        </p:nvSpPr>
        <p:spPr>
          <a:xfrm>
            <a:off x="8595360" y="4114800"/>
            <a:ext cx="1005840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TextBox 115"/>
          <p:cNvSpPr txBox="1"/>
          <p:nvPr/>
        </p:nvSpPr>
        <p:spPr>
          <a:xfrm>
            <a:off x="8595360" y="4114800"/>
            <a:ext cx="100584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50" b="0">
                <a:solidFill>
                  <a:srgbClr val="595959"/>
                </a:solidFill>
                <a:latin typeface="微软雅黑"/>
              </a:rPr>
              <a:t>抑郁/疼痛</a:t>
            </a:r>
          </a:p>
        </p:txBody>
      </p:sp>
      <p:sp>
        <p:nvSpPr>
          <p:cNvPr id="117" name="Rectangle 116"/>
          <p:cNvSpPr/>
          <p:nvPr/>
        </p:nvSpPr>
        <p:spPr>
          <a:xfrm>
            <a:off x="9601200" y="4114800"/>
            <a:ext cx="1005840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TextBox 117"/>
          <p:cNvSpPr txBox="1"/>
          <p:nvPr/>
        </p:nvSpPr>
        <p:spPr>
          <a:xfrm>
            <a:off x="9601200" y="4114800"/>
            <a:ext cx="100584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50" b="0">
                <a:solidFill>
                  <a:srgbClr val="595959"/>
                </a:solidFill>
                <a:latin typeface="微软雅黑"/>
              </a:rPr>
              <a:t>国采5批 (2021)</a:t>
            </a:r>
          </a:p>
        </p:txBody>
      </p:sp>
      <p:sp>
        <p:nvSpPr>
          <p:cNvPr id="119" name="Rectangle 118"/>
          <p:cNvSpPr/>
          <p:nvPr/>
        </p:nvSpPr>
        <p:spPr>
          <a:xfrm>
            <a:off x="10607040" y="4114800"/>
            <a:ext cx="914400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TextBox 119"/>
          <p:cNvSpPr txBox="1"/>
          <p:nvPr/>
        </p:nvSpPr>
        <p:spPr>
          <a:xfrm>
            <a:off x="10607040" y="4114800"/>
            <a:ext cx="9144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50" b="0">
                <a:solidFill>
                  <a:srgbClr val="595959"/>
                </a:solidFill>
                <a:latin typeface="微软雅黑"/>
              </a:rPr>
              <a:t>~$120M</a:t>
            </a:r>
          </a:p>
        </p:txBody>
      </p:sp>
      <p:sp>
        <p:nvSpPr>
          <p:cNvPr id="121" name="Rectangle 120"/>
          <p:cNvSpPr/>
          <p:nvPr/>
        </p:nvSpPr>
        <p:spPr>
          <a:xfrm>
            <a:off x="11521440" y="4114800"/>
            <a:ext cx="640080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TextBox 121"/>
          <p:cNvSpPr txBox="1"/>
          <p:nvPr/>
        </p:nvSpPr>
        <p:spPr>
          <a:xfrm>
            <a:off x="11521440" y="4114800"/>
            <a:ext cx="64008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50" b="1">
                <a:solidFill>
                  <a:srgbClr val="595959"/>
                </a:solidFill>
                <a:latin typeface="微软雅黑"/>
              </a:rPr>
              <a:t>→</a:t>
            </a:r>
          </a:p>
        </p:txBody>
      </p:sp>
      <p:sp>
        <p:nvSpPr>
          <p:cNvPr id="123" name="Rectangle 122"/>
          <p:cNvSpPr/>
          <p:nvPr/>
        </p:nvSpPr>
        <p:spPr>
          <a:xfrm>
            <a:off x="6400800" y="4572000"/>
            <a:ext cx="1188720" cy="45720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TextBox 123"/>
          <p:cNvSpPr txBox="1"/>
          <p:nvPr/>
        </p:nvSpPr>
        <p:spPr>
          <a:xfrm>
            <a:off x="6400800" y="4572000"/>
            <a:ext cx="118872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50" b="1">
                <a:solidFill>
                  <a:srgbClr val="595959"/>
                </a:solidFill>
                <a:latin typeface="微软雅黑"/>
              </a:rPr>
              <a:t>怡诺思</a:t>
            </a:r>
          </a:p>
        </p:txBody>
      </p:sp>
      <p:sp>
        <p:nvSpPr>
          <p:cNvPr id="125" name="Rectangle 124"/>
          <p:cNvSpPr/>
          <p:nvPr/>
        </p:nvSpPr>
        <p:spPr>
          <a:xfrm>
            <a:off x="7589520" y="4572000"/>
            <a:ext cx="1005840" cy="45720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TextBox 125"/>
          <p:cNvSpPr txBox="1"/>
          <p:nvPr/>
        </p:nvSpPr>
        <p:spPr>
          <a:xfrm>
            <a:off x="7589520" y="4572000"/>
            <a:ext cx="100584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50" b="0">
                <a:solidFill>
                  <a:srgbClr val="595959"/>
                </a:solidFill>
                <a:latin typeface="微软雅黑"/>
              </a:rPr>
              <a:t>文拉法辛</a:t>
            </a:r>
          </a:p>
        </p:txBody>
      </p:sp>
      <p:sp>
        <p:nvSpPr>
          <p:cNvPr id="127" name="Rectangle 126"/>
          <p:cNvSpPr/>
          <p:nvPr/>
        </p:nvSpPr>
        <p:spPr>
          <a:xfrm>
            <a:off x="8595360" y="4572000"/>
            <a:ext cx="1005840" cy="45720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TextBox 127"/>
          <p:cNvSpPr txBox="1"/>
          <p:nvPr/>
        </p:nvSpPr>
        <p:spPr>
          <a:xfrm>
            <a:off x="8595360" y="4572000"/>
            <a:ext cx="100584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50" b="0">
                <a:solidFill>
                  <a:srgbClr val="595959"/>
                </a:solidFill>
                <a:latin typeface="微软雅黑"/>
              </a:rPr>
              <a:t>抑郁</a:t>
            </a:r>
          </a:p>
        </p:txBody>
      </p:sp>
      <p:sp>
        <p:nvSpPr>
          <p:cNvPr id="129" name="Rectangle 128"/>
          <p:cNvSpPr/>
          <p:nvPr/>
        </p:nvSpPr>
        <p:spPr>
          <a:xfrm>
            <a:off x="9601200" y="4572000"/>
            <a:ext cx="1005840" cy="45720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TextBox 129"/>
          <p:cNvSpPr txBox="1"/>
          <p:nvPr/>
        </p:nvSpPr>
        <p:spPr>
          <a:xfrm>
            <a:off x="9601200" y="4572000"/>
            <a:ext cx="100584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50" b="0">
                <a:solidFill>
                  <a:srgbClr val="595959"/>
                </a:solidFill>
                <a:latin typeface="微软雅黑"/>
              </a:rPr>
              <a:t>国采5批 (2021)</a:t>
            </a:r>
          </a:p>
        </p:txBody>
      </p:sp>
      <p:sp>
        <p:nvSpPr>
          <p:cNvPr id="131" name="Rectangle 130"/>
          <p:cNvSpPr/>
          <p:nvPr/>
        </p:nvSpPr>
        <p:spPr>
          <a:xfrm>
            <a:off x="10607040" y="4572000"/>
            <a:ext cx="914400" cy="45720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TextBox 131"/>
          <p:cNvSpPr txBox="1"/>
          <p:nvPr/>
        </p:nvSpPr>
        <p:spPr>
          <a:xfrm>
            <a:off x="10607040" y="4572000"/>
            <a:ext cx="9144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50" b="0">
                <a:solidFill>
                  <a:srgbClr val="595959"/>
                </a:solidFill>
                <a:latin typeface="微软雅黑"/>
              </a:rPr>
              <a:t>~$95M</a:t>
            </a:r>
          </a:p>
        </p:txBody>
      </p:sp>
      <p:sp>
        <p:nvSpPr>
          <p:cNvPr id="133" name="Rectangle 132"/>
          <p:cNvSpPr/>
          <p:nvPr/>
        </p:nvSpPr>
        <p:spPr>
          <a:xfrm>
            <a:off x="11521440" y="4572000"/>
            <a:ext cx="640080" cy="45720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TextBox 133"/>
          <p:cNvSpPr txBox="1"/>
          <p:nvPr/>
        </p:nvSpPr>
        <p:spPr>
          <a:xfrm>
            <a:off x="11521440" y="4572000"/>
            <a:ext cx="64008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50" b="1">
                <a:solidFill>
                  <a:srgbClr val="595959"/>
                </a:solidFill>
                <a:latin typeface="微软雅黑"/>
              </a:rPr>
              <a:t>→</a:t>
            </a:r>
          </a:p>
        </p:txBody>
      </p:sp>
      <p:sp>
        <p:nvSpPr>
          <p:cNvPr id="135" name="Rectangle 134"/>
          <p:cNvSpPr/>
          <p:nvPr/>
        </p:nvSpPr>
        <p:spPr>
          <a:xfrm>
            <a:off x="6400800" y="5029200"/>
            <a:ext cx="1188720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TextBox 135"/>
          <p:cNvSpPr txBox="1"/>
          <p:nvPr/>
        </p:nvSpPr>
        <p:spPr>
          <a:xfrm>
            <a:off x="6400800" y="5029200"/>
            <a:ext cx="118872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50" b="1">
                <a:solidFill>
                  <a:srgbClr val="595959"/>
                </a:solidFill>
                <a:latin typeface="微软雅黑"/>
              </a:rPr>
              <a:t>其他品牌+仿制</a:t>
            </a:r>
          </a:p>
        </p:txBody>
      </p:sp>
      <p:sp>
        <p:nvSpPr>
          <p:cNvPr id="137" name="Rectangle 136"/>
          <p:cNvSpPr/>
          <p:nvPr/>
        </p:nvSpPr>
        <p:spPr>
          <a:xfrm>
            <a:off x="7589520" y="5029200"/>
            <a:ext cx="1005840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TextBox 137"/>
          <p:cNvSpPr txBox="1"/>
          <p:nvPr/>
        </p:nvSpPr>
        <p:spPr>
          <a:xfrm>
            <a:off x="7589520" y="5029200"/>
            <a:ext cx="100584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50" b="0">
                <a:solidFill>
                  <a:srgbClr val="595959"/>
                </a:solidFill>
                <a:latin typeface="微软雅黑"/>
              </a:rPr>
              <a:t>—</a:t>
            </a:r>
          </a:p>
        </p:txBody>
      </p:sp>
      <p:sp>
        <p:nvSpPr>
          <p:cNvPr id="139" name="Rectangle 138"/>
          <p:cNvSpPr/>
          <p:nvPr/>
        </p:nvSpPr>
        <p:spPr>
          <a:xfrm>
            <a:off x="8595360" y="5029200"/>
            <a:ext cx="1005840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TextBox 139"/>
          <p:cNvSpPr txBox="1"/>
          <p:nvPr/>
        </p:nvSpPr>
        <p:spPr>
          <a:xfrm>
            <a:off x="8595360" y="5029200"/>
            <a:ext cx="100584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50" b="0">
                <a:solidFill>
                  <a:srgbClr val="595959"/>
                </a:solidFill>
                <a:latin typeface="微软雅黑"/>
              </a:rPr>
              <a:t>多领域</a:t>
            </a:r>
          </a:p>
        </p:txBody>
      </p:sp>
      <p:sp>
        <p:nvSpPr>
          <p:cNvPr id="141" name="Rectangle 140"/>
          <p:cNvSpPr/>
          <p:nvPr/>
        </p:nvSpPr>
        <p:spPr>
          <a:xfrm>
            <a:off x="9601200" y="5029200"/>
            <a:ext cx="1005840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TextBox 141"/>
          <p:cNvSpPr txBox="1"/>
          <p:nvPr/>
        </p:nvSpPr>
        <p:spPr>
          <a:xfrm>
            <a:off x="9601200" y="5029200"/>
            <a:ext cx="100584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50" b="0">
                <a:solidFill>
                  <a:srgbClr val="595959"/>
                </a:solidFill>
                <a:latin typeface="微软雅黑"/>
              </a:rPr>
              <a:t>部分</a:t>
            </a:r>
          </a:p>
        </p:txBody>
      </p:sp>
      <p:sp>
        <p:nvSpPr>
          <p:cNvPr id="143" name="Rectangle 142"/>
          <p:cNvSpPr/>
          <p:nvPr/>
        </p:nvSpPr>
        <p:spPr>
          <a:xfrm>
            <a:off x="10607040" y="5029200"/>
            <a:ext cx="914400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TextBox 143"/>
          <p:cNvSpPr txBox="1"/>
          <p:nvPr/>
        </p:nvSpPr>
        <p:spPr>
          <a:xfrm>
            <a:off x="10607040" y="5029200"/>
            <a:ext cx="9144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50" b="0">
                <a:solidFill>
                  <a:srgbClr val="595959"/>
                </a:solidFill>
                <a:latin typeface="微软雅黑"/>
              </a:rPr>
              <a:t>~$320M</a:t>
            </a:r>
          </a:p>
        </p:txBody>
      </p:sp>
      <p:sp>
        <p:nvSpPr>
          <p:cNvPr id="145" name="Rectangle 144"/>
          <p:cNvSpPr/>
          <p:nvPr/>
        </p:nvSpPr>
        <p:spPr>
          <a:xfrm>
            <a:off x="11521440" y="5029200"/>
            <a:ext cx="640080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TextBox 145"/>
          <p:cNvSpPr txBox="1"/>
          <p:nvPr/>
        </p:nvSpPr>
        <p:spPr>
          <a:xfrm>
            <a:off x="11521440" y="5029200"/>
            <a:ext cx="64008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50" b="1">
                <a:solidFill>
                  <a:srgbClr val="595959"/>
                </a:solidFill>
                <a:latin typeface="微软雅黑"/>
              </a:rPr>
              <a:t>→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365760" y="6263640"/>
            <a:ext cx="11430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B7B7B7"/>
                </a:solidFill>
                <a:latin typeface="微软雅黑"/>
              </a:rPr>
              <a:t>资料来源：Viatris 2024 Annual Report (10-K)、2025 Q2 财报；公司中国官网；Endpoints News、雪球研究；国家组织药品集中采购历次中标公告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29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B7B7B7"/>
                </a:solidFill>
                <a:latin typeface="微软雅黑"/>
              </a:rPr>
              <a:t>晖致中国业绩影响研判  |  医保新政分析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24160" y="164592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B7B7B7"/>
                </a:solidFill>
                <a:latin typeface="微软雅黑"/>
              </a:rPr>
              <a:t>9 / 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411480"/>
            <a:ext cx="115214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00295B"/>
                </a:solidFill>
                <a:latin typeface="微软雅黑"/>
              </a:rPr>
              <a:t>晖致 ~90% 中国收入暴露于「过专利原研」赛道——新政影响弹性高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886968"/>
            <a:ext cx="115214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  <a:latin typeface="微软雅黑"/>
              </a:rPr>
              <a:t>敏感性矩阵：政策利好集中在「集采后已失血但品牌力强」的品种，恰好与晖致组合高度重叠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365760" y="1207008"/>
            <a:ext cx="11457432" cy="0"/>
          </a:xfrm>
          <a:prstGeom prst="line">
            <a:avLst/>
          </a:prstGeom>
          <a:ln w="15875">
            <a:solidFill>
              <a:srgbClr val="0029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365760" y="6537960"/>
            <a:ext cx="1463040" cy="22860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6537960"/>
            <a:ext cx="146304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50" b="1">
                <a:solidFill>
                  <a:srgbClr val="595959"/>
                </a:solidFill>
                <a:latin typeface="微软雅黑"/>
              </a:rPr>
              <a:t>1. 政策背景</a:t>
            </a:r>
          </a:p>
        </p:txBody>
      </p:sp>
      <p:sp>
        <p:nvSpPr>
          <p:cNvPr id="10" name="Rectangle 9"/>
          <p:cNvSpPr/>
          <p:nvPr/>
        </p:nvSpPr>
        <p:spPr>
          <a:xfrm>
            <a:off x="1920240" y="6537960"/>
            <a:ext cx="1463040" cy="22860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920240" y="6537960"/>
            <a:ext cx="146304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50" b="1">
                <a:solidFill>
                  <a:srgbClr val="595959"/>
                </a:solidFill>
                <a:latin typeface="微软雅黑"/>
              </a:rPr>
              <a:t>2. 新政详解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474720" y="6537960"/>
            <a:ext cx="1463040" cy="22860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74720" y="6537960"/>
            <a:ext cx="146304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50" b="1">
                <a:solidFill>
                  <a:srgbClr val="595959"/>
                </a:solidFill>
                <a:latin typeface="微软雅黑"/>
              </a:rPr>
              <a:t>3. 市场影响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0" y="6537960"/>
            <a:ext cx="1463040" cy="228600"/>
          </a:xfrm>
          <a:prstGeom prst="rect">
            <a:avLst/>
          </a:prstGeom>
          <a:solidFill>
            <a:srgbClr val="0029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0" y="6537960"/>
            <a:ext cx="146304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微软雅黑"/>
              </a:rPr>
              <a:t>4. 晖致研判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583680" y="6537960"/>
            <a:ext cx="1463040" cy="22860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0" y="6537960"/>
            <a:ext cx="146304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50" b="1">
                <a:solidFill>
                  <a:srgbClr val="595959"/>
                </a:solidFill>
                <a:latin typeface="微软雅黑"/>
              </a:rPr>
              <a:t>5. 战略启示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0" y="6565392"/>
            <a:ext cx="18288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0">
                <a:solidFill>
                  <a:srgbClr val="B7B7B7"/>
                </a:solidFill>
                <a:latin typeface="微软雅黑"/>
              </a:rPr>
              <a:t>麦肯锡风格分析框架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548640" y="5943600"/>
            <a:ext cx="5943600" cy="0"/>
          </a:xfrm>
          <a:prstGeom prst="line">
            <a:avLst/>
          </a:prstGeom>
          <a:ln w="19050">
            <a:solidFill>
              <a:srgbClr val="0029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548640" y="1554480"/>
            <a:ext cx="0" cy="4389120"/>
          </a:xfrm>
          <a:prstGeom prst="line">
            <a:avLst/>
          </a:prstGeom>
          <a:ln w="19050">
            <a:solidFill>
              <a:srgbClr val="0029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274320" y="123444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00295B"/>
                </a:solidFill>
                <a:latin typeface="微软雅黑"/>
              </a:rPr>
              <a:t>↑ 品牌力 / 患者粘性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06240" y="6035040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1">
                <a:solidFill>
                  <a:srgbClr val="00295B"/>
                </a:solidFill>
                <a:latin typeface="微软雅黑"/>
              </a:rPr>
              <a:t>集采后份额流失率 →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1737360"/>
            <a:ext cx="2560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2E8B57"/>
                </a:solidFill>
                <a:latin typeface="微软雅黑"/>
              </a:rPr>
              <a:t>「沉睡的金矿」(新政最大受益)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931920" y="1737360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1">
                <a:solidFill>
                  <a:srgbClr val="E87122"/>
                </a:solidFill>
                <a:latin typeface="微软雅黑"/>
              </a:rPr>
              <a:t>「品牌救赎区」(直接利好)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5577840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595959"/>
                </a:solidFill>
                <a:latin typeface="微软雅黑"/>
              </a:rPr>
              <a:t>「躺平区」(影响有限)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931920" y="5577840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1">
                <a:solidFill>
                  <a:srgbClr val="595959"/>
                </a:solidFill>
                <a:latin typeface="微软雅黑"/>
              </a:rPr>
              <a:t>「困境反转待验证」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548640" y="3749040.0"/>
            <a:ext cx="5943600" cy="0.0"/>
          </a:xfrm>
          <a:prstGeom prst="line">
            <a:avLst/>
          </a:prstGeom>
          <a:ln w="6350">
            <a:solidFill>
              <a:srgbClr val="B7B7B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3520440.0" y="1554480"/>
            <a:ext cx="0.0" cy="4389120"/>
          </a:xfrm>
          <a:prstGeom prst="line">
            <a:avLst/>
          </a:prstGeom>
          <a:ln w="6350">
            <a:solidFill>
              <a:srgbClr val="B7B7B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Oval 28"/>
          <p:cNvSpPr/>
          <p:nvPr/>
        </p:nvSpPr>
        <p:spPr>
          <a:xfrm>
            <a:off x="5280660" y="1761135"/>
            <a:ext cx="640080" cy="640080"/>
          </a:xfrm>
          <a:prstGeom prst="ellipse">
            <a:avLst/>
          </a:prstGeom>
          <a:solidFill>
            <a:srgbClr val="E87122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006340" y="2355495"/>
            <a:ext cx="118871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1">
                <a:solidFill>
                  <a:srgbClr val="00295B"/>
                </a:solidFill>
                <a:latin typeface="微软雅黑"/>
              </a:rPr>
              <a:t>立普妥</a:t>
            </a:r>
          </a:p>
        </p:txBody>
      </p:sp>
      <p:sp>
        <p:nvSpPr>
          <p:cNvPr id="31" name="Oval 30"/>
          <p:cNvSpPr/>
          <p:nvPr/>
        </p:nvSpPr>
        <p:spPr>
          <a:xfrm>
            <a:off x="5006340" y="1915668"/>
            <a:ext cx="594360" cy="594360"/>
          </a:xfrm>
          <a:prstGeom prst="ellipse">
            <a:avLst/>
          </a:prstGeom>
          <a:solidFill>
            <a:srgbClr val="E87122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732020" y="2464308"/>
            <a:ext cx="1143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1">
                <a:solidFill>
                  <a:srgbClr val="00295B"/>
                </a:solidFill>
                <a:latin typeface="微软雅黑"/>
              </a:rPr>
              <a:t>络活喜</a:t>
            </a:r>
          </a:p>
        </p:txBody>
      </p:sp>
      <p:sp>
        <p:nvSpPr>
          <p:cNvPr id="33" name="Oval 32"/>
          <p:cNvSpPr/>
          <p:nvPr/>
        </p:nvSpPr>
        <p:spPr>
          <a:xfrm>
            <a:off x="4480560" y="1677010"/>
            <a:ext cx="457200" cy="457200"/>
          </a:xfrm>
          <a:prstGeom prst="ellipse">
            <a:avLst/>
          </a:prstGeom>
          <a:solidFill>
            <a:srgbClr val="E87122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206240" y="2088490"/>
            <a:ext cx="1005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1">
                <a:solidFill>
                  <a:srgbClr val="00295B"/>
                </a:solidFill>
                <a:latin typeface="微软雅黑"/>
              </a:rPr>
              <a:t>万艾可</a:t>
            </a:r>
          </a:p>
        </p:txBody>
      </p:sp>
      <p:sp>
        <p:nvSpPr>
          <p:cNvPr id="35" name="Oval 34"/>
          <p:cNvSpPr/>
          <p:nvPr/>
        </p:nvSpPr>
        <p:spPr>
          <a:xfrm>
            <a:off x="3657600" y="3150108"/>
            <a:ext cx="320040" cy="320040"/>
          </a:xfrm>
          <a:prstGeom prst="ellipse">
            <a:avLst/>
          </a:prstGeom>
          <a:solidFill>
            <a:srgbClr val="006BA6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383280" y="3424428"/>
            <a:ext cx="868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1">
                <a:solidFill>
                  <a:srgbClr val="00295B"/>
                </a:solidFill>
                <a:latin typeface="微软雅黑"/>
              </a:rPr>
              <a:t>欣百达</a:t>
            </a:r>
          </a:p>
        </p:txBody>
      </p:sp>
      <p:sp>
        <p:nvSpPr>
          <p:cNvPr id="37" name="Oval 36"/>
          <p:cNvSpPr/>
          <p:nvPr/>
        </p:nvSpPr>
        <p:spPr>
          <a:xfrm>
            <a:off x="3383280" y="3392424"/>
            <a:ext cx="274320" cy="274320"/>
          </a:xfrm>
          <a:prstGeom prst="ellipse">
            <a:avLst/>
          </a:prstGeom>
          <a:solidFill>
            <a:srgbClr val="006BA6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108960" y="3621024"/>
            <a:ext cx="82295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1">
                <a:solidFill>
                  <a:srgbClr val="00295B"/>
                </a:solidFill>
                <a:latin typeface="微软雅黑"/>
              </a:rPr>
              <a:t>怡诺思</a:t>
            </a:r>
          </a:p>
        </p:txBody>
      </p:sp>
      <p:sp>
        <p:nvSpPr>
          <p:cNvPr id="39" name="Oval 38"/>
          <p:cNvSpPr/>
          <p:nvPr/>
        </p:nvSpPr>
        <p:spPr>
          <a:xfrm>
            <a:off x="2148840" y="2468880"/>
            <a:ext cx="365760" cy="365760"/>
          </a:xfrm>
          <a:prstGeom prst="ellipse">
            <a:avLst/>
          </a:prstGeom>
          <a:solidFill>
            <a:srgbClr val="2E8B57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874520" y="278892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1">
                <a:solidFill>
                  <a:srgbClr val="00295B"/>
                </a:solidFill>
                <a:latin typeface="微软雅黑"/>
              </a:rPr>
              <a:t>赛可瑞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766560" y="1417320"/>
            <a:ext cx="5120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00295B"/>
                </a:solidFill>
                <a:latin typeface="微软雅黑"/>
              </a:rPr>
              <a:t>影响弹性分级 (新政对晖致组合的传导)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766560" y="1828800"/>
            <a:ext cx="1920240" cy="64008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766560" y="1828800"/>
            <a:ext cx="192024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50" b="1">
                <a:solidFill>
                  <a:srgbClr val="00295B"/>
                </a:solidFill>
                <a:latin typeface="微软雅黑"/>
              </a:rPr>
              <a:t>立普妥 + 络活喜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686800" y="1828800"/>
            <a:ext cx="1188720" cy="640080"/>
          </a:xfrm>
          <a:prstGeom prst="rect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686800" y="1828800"/>
            <a:ext cx="118872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微软雅黑"/>
              </a:rPr>
              <a:t>+8% ~ +15%</a:t>
            </a:r>
          </a:p>
        </p:txBody>
      </p:sp>
      <p:sp>
        <p:nvSpPr>
          <p:cNvPr id="46" name="Rectangle 45"/>
          <p:cNvSpPr/>
          <p:nvPr/>
        </p:nvSpPr>
        <p:spPr>
          <a:xfrm>
            <a:off x="9875520" y="1828800"/>
            <a:ext cx="2011680" cy="640080"/>
          </a:xfrm>
          <a:prstGeom prst="rect">
            <a:avLst/>
          </a:prstGeom>
          <a:solidFill>
            <a:srgbClr val="FFFFFF"/>
          </a:solidFill>
          <a:ln>
            <a:solidFill>
              <a:srgbClr val="B7B7B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9921240" y="1828800"/>
            <a:ext cx="196596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0">
                <a:solidFill>
                  <a:srgbClr val="595959"/>
                </a:solidFill>
                <a:latin typeface="微软雅黑"/>
              </a:rPr>
              <a:t>院内回流 + 慢病自付意愿强；占中国收入 ~55%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766560" y="2514600"/>
            <a:ext cx="1920240" cy="64008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766560" y="2514600"/>
            <a:ext cx="192024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50" b="1">
                <a:solidFill>
                  <a:srgbClr val="00295B"/>
                </a:solidFill>
                <a:latin typeface="微软雅黑"/>
              </a:rPr>
              <a:t>万艾可</a:t>
            </a:r>
          </a:p>
        </p:txBody>
      </p:sp>
      <p:sp>
        <p:nvSpPr>
          <p:cNvPr id="50" name="Rectangle 49"/>
          <p:cNvSpPr/>
          <p:nvPr/>
        </p:nvSpPr>
        <p:spPr>
          <a:xfrm>
            <a:off x="8686800" y="2514600"/>
            <a:ext cx="1188720" cy="640080"/>
          </a:xfrm>
          <a:prstGeom prst="rect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8686800" y="2514600"/>
            <a:ext cx="118872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微软雅黑"/>
              </a:rPr>
              <a:t>+5% ~ +10%</a:t>
            </a:r>
          </a:p>
        </p:txBody>
      </p:sp>
      <p:sp>
        <p:nvSpPr>
          <p:cNvPr id="52" name="Rectangle 51"/>
          <p:cNvSpPr/>
          <p:nvPr/>
        </p:nvSpPr>
        <p:spPr>
          <a:xfrm>
            <a:off x="9875520" y="2514600"/>
            <a:ext cx="2011680" cy="640080"/>
          </a:xfrm>
          <a:prstGeom prst="rect">
            <a:avLst/>
          </a:prstGeom>
          <a:solidFill>
            <a:srgbClr val="FFFFFF"/>
          </a:solidFill>
          <a:ln>
            <a:solidFill>
              <a:srgbClr val="B7B7B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9921240" y="2514600"/>
            <a:ext cx="196596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0">
                <a:solidFill>
                  <a:srgbClr val="595959"/>
                </a:solidFill>
                <a:latin typeface="微软雅黑"/>
              </a:rPr>
              <a:t>本来就以零售/电商为主；新增院内+双通道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766560" y="3200400"/>
            <a:ext cx="1920240" cy="64008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766560" y="3200400"/>
            <a:ext cx="192024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50" b="1">
                <a:solidFill>
                  <a:srgbClr val="00295B"/>
                </a:solidFill>
                <a:latin typeface="微软雅黑"/>
              </a:rPr>
              <a:t>赛可瑞</a:t>
            </a:r>
          </a:p>
        </p:txBody>
      </p:sp>
      <p:sp>
        <p:nvSpPr>
          <p:cNvPr id="56" name="Rectangle 55"/>
          <p:cNvSpPr/>
          <p:nvPr/>
        </p:nvSpPr>
        <p:spPr>
          <a:xfrm>
            <a:off x="8686800" y="3200400"/>
            <a:ext cx="1188720" cy="640080"/>
          </a:xfrm>
          <a:prstGeom prst="rect">
            <a:avLst/>
          </a:prstGeom>
          <a:solidFill>
            <a:srgbClr val="B7B7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8686800" y="3200400"/>
            <a:ext cx="118872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微软雅黑"/>
              </a:rPr>
              <a:t>-3% ~ +2%</a:t>
            </a:r>
          </a:p>
        </p:txBody>
      </p:sp>
      <p:sp>
        <p:nvSpPr>
          <p:cNvPr id="58" name="Rectangle 57"/>
          <p:cNvSpPr/>
          <p:nvPr/>
        </p:nvSpPr>
        <p:spPr>
          <a:xfrm>
            <a:off x="9875520" y="3200400"/>
            <a:ext cx="2011680" cy="640080"/>
          </a:xfrm>
          <a:prstGeom prst="rect">
            <a:avLst/>
          </a:prstGeom>
          <a:solidFill>
            <a:srgbClr val="FFFFFF"/>
          </a:solidFill>
          <a:ln>
            <a:solidFill>
              <a:srgbClr val="B7B7B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9921240" y="3200400"/>
            <a:ext cx="196596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0">
                <a:solidFill>
                  <a:srgbClr val="595959"/>
                </a:solidFill>
                <a:latin typeface="微软雅黑"/>
              </a:rPr>
              <a:t>肿瘤创新药受医保谈判压力大，但商保目录或贡献增量</a:t>
            </a:r>
          </a:p>
        </p:txBody>
      </p:sp>
      <p:sp>
        <p:nvSpPr>
          <p:cNvPr id="60" name="Rectangle 59"/>
          <p:cNvSpPr/>
          <p:nvPr/>
        </p:nvSpPr>
        <p:spPr>
          <a:xfrm>
            <a:off x="6766560" y="3886200"/>
            <a:ext cx="1920240" cy="64008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6766560" y="3886200"/>
            <a:ext cx="192024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50" b="1">
                <a:solidFill>
                  <a:srgbClr val="00295B"/>
                </a:solidFill>
                <a:latin typeface="微软雅黑"/>
              </a:rPr>
              <a:t>欣百达 + 怡诺思</a:t>
            </a:r>
          </a:p>
        </p:txBody>
      </p:sp>
      <p:sp>
        <p:nvSpPr>
          <p:cNvPr id="62" name="Rectangle 61"/>
          <p:cNvSpPr/>
          <p:nvPr/>
        </p:nvSpPr>
        <p:spPr>
          <a:xfrm>
            <a:off x="8686800" y="3886200"/>
            <a:ext cx="1188720" cy="640080"/>
          </a:xfrm>
          <a:prstGeom prst="rect">
            <a:avLst/>
          </a:prstGeom>
          <a:solidFill>
            <a:srgbClr val="B7B7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8686800" y="3886200"/>
            <a:ext cx="118872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微软雅黑"/>
              </a:rPr>
              <a:t>±0% ~ +5%</a:t>
            </a:r>
          </a:p>
        </p:txBody>
      </p:sp>
      <p:sp>
        <p:nvSpPr>
          <p:cNvPr id="64" name="Rectangle 63"/>
          <p:cNvSpPr/>
          <p:nvPr/>
        </p:nvSpPr>
        <p:spPr>
          <a:xfrm>
            <a:off x="9875520" y="3886200"/>
            <a:ext cx="2011680" cy="640080"/>
          </a:xfrm>
          <a:prstGeom prst="rect">
            <a:avLst/>
          </a:prstGeom>
          <a:solidFill>
            <a:srgbClr val="FFFFFF"/>
          </a:solidFill>
          <a:ln>
            <a:solidFill>
              <a:srgbClr val="B7B7B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9921240" y="3886200"/>
            <a:ext cx="196596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0">
                <a:solidFill>
                  <a:srgbClr val="595959"/>
                </a:solidFill>
                <a:latin typeface="微软雅黑"/>
              </a:rPr>
              <a:t>精神类品种品牌粘性中等，受益有限</a:t>
            </a:r>
          </a:p>
        </p:txBody>
      </p:sp>
      <p:sp>
        <p:nvSpPr>
          <p:cNvPr id="66" name="Rectangle 65"/>
          <p:cNvSpPr/>
          <p:nvPr/>
        </p:nvSpPr>
        <p:spPr>
          <a:xfrm>
            <a:off x="6766560" y="4572000"/>
            <a:ext cx="1920240" cy="64008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6766560" y="4572000"/>
            <a:ext cx="192024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50" b="1">
                <a:solidFill>
                  <a:srgbClr val="00295B"/>
                </a:solidFill>
                <a:latin typeface="微软雅黑"/>
              </a:rPr>
              <a:t>其他长尾</a:t>
            </a:r>
          </a:p>
        </p:txBody>
      </p:sp>
      <p:sp>
        <p:nvSpPr>
          <p:cNvPr id="68" name="Rectangle 67"/>
          <p:cNvSpPr/>
          <p:nvPr/>
        </p:nvSpPr>
        <p:spPr>
          <a:xfrm>
            <a:off x="8686800" y="4572000"/>
            <a:ext cx="1188720" cy="64008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8686800" y="4572000"/>
            <a:ext cx="118872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微软雅黑"/>
              </a:rPr>
              <a:t>-5% ~ +0%</a:t>
            </a:r>
          </a:p>
        </p:txBody>
      </p:sp>
      <p:sp>
        <p:nvSpPr>
          <p:cNvPr id="70" name="Rectangle 69"/>
          <p:cNvSpPr/>
          <p:nvPr/>
        </p:nvSpPr>
        <p:spPr>
          <a:xfrm>
            <a:off x="9875520" y="4572000"/>
            <a:ext cx="2011680" cy="640080"/>
          </a:xfrm>
          <a:prstGeom prst="rect">
            <a:avLst/>
          </a:prstGeom>
          <a:solidFill>
            <a:srgbClr val="FFFFFF"/>
          </a:solidFill>
          <a:ln>
            <a:solidFill>
              <a:srgbClr val="B7B7B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9921240" y="4572000"/>
            <a:ext cx="196596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0">
                <a:solidFill>
                  <a:srgbClr val="595959"/>
                </a:solidFill>
                <a:latin typeface="微软雅黑"/>
              </a:rPr>
              <a:t>竞争激烈、品牌弱，难以受益于政策红利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365760" y="6263640"/>
            <a:ext cx="11430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B7B7B7"/>
                </a:solidFill>
                <a:latin typeface="微软雅黑"/>
              </a:rPr>
              <a:t>资料来源：Viatris 财报披露 + 米内网终端销售数据；本团队基于政策传导弹性模型测算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29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B7B7B7"/>
                </a:solidFill>
                <a:latin typeface="微软雅黑"/>
              </a:rPr>
              <a:t>晖致中国业绩影响研判  |  医保新政分析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24160" y="164592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B7B7B7"/>
                </a:solidFill>
                <a:latin typeface="微软雅黑"/>
              </a:rPr>
              <a:t>10 / 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411480"/>
            <a:ext cx="115214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00295B"/>
                </a:solidFill>
                <a:latin typeface="微软雅黑"/>
              </a:rPr>
              <a:t>三情景测算：基准情景下晖致中国 2028E 收入 ~$24.5 亿，CAGR +4%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886968"/>
            <a:ext cx="115214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  <a:latin typeface="微软雅黑"/>
              </a:rPr>
              <a:t>情景差异核心驱动：① 新政在 30 个重点城市的落地速度；② 商保渗透率；③ DRG/DIP 控费强度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365760" y="1207008"/>
            <a:ext cx="11457432" cy="0"/>
          </a:xfrm>
          <a:prstGeom prst="line">
            <a:avLst/>
          </a:prstGeom>
          <a:ln w="15875">
            <a:solidFill>
              <a:srgbClr val="0029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365760" y="6537960"/>
            <a:ext cx="1463040" cy="22860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6537960"/>
            <a:ext cx="146304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50" b="1">
                <a:solidFill>
                  <a:srgbClr val="595959"/>
                </a:solidFill>
                <a:latin typeface="微软雅黑"/>
              </a:rPr>
              <a:t>1. 政策背景</a:t>
            </a:r>
          </a:p>
        </p:txBody>
      </p:sp>
      <p:sp>
        <p:nvSpPr>
          <p:cNvPr id="10" name="Rectangle 9"/>
          <p:cNvSpPr/>
          <p:nvPr/>
        </p:nvSpPr>
        <p:spPr>
          <a:xfrm>
            <a:off x="1920240" y="6537960"/>
            <a:ext cx="1463040" cy="22860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920240" y="6537960"/>
            <a:ext cx="146304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50" b="1">
                <a:solidFill>
                  <a:srgbClr val="595959"/>
                </a:solidFill>
                <a:latin typeface="微软雅黑"/>
              </a:rPr>
              <a:t>2. 新政详解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474720" y="6537960"/>
            <a:ext cx="1463040" cy="22860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74720" y="6537960"/>
            <a:ext cx="146304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50" b="1">
                <a:solidFill>
                  <a:srgbClr val="595959"/>
                </a:solidFill>
                <a:latin typeface="微软雅黑"/>
              </a:rPr>
              <a:t>3. 市场影响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0" y="6537960"/>
            <a:ext cx="1463040" cy="228600"/>
          </a:xfrm>
          <a:prstGeom prst="rect">
            <a:avLst/>
          </a:prstGeom>
          <a:solidFill>
            <a:srgbClr val="0029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0" y="6537960"/>
            <a:ext cx="146304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微软雅黑"/>
              </a:rPr>
              <a:t>4. 晖致研判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583680" y="6537960"/>
            <a:ext cx="1463040" cy="22860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0" y="6537960"/>
            <a:ext cx="146304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50" b="1">
                <a:solidFill>
                  <a:srgbClr val="595959"/>
                </a:solidFill>
                <a:latin typeface="微软雅黑"/>
              </a:rPr>
              <a:t>5. 战略启示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0" y="6565392"/>
            <a:ext cx="18288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0">
                <a:solidFill>
                  <a:srgbClr val="B7B7B7"/>
                </a:solidFill>
                <a:latin typeface="微软雅黑"/>
              </a:rPr>
              <a:t>麦肯锡风格分析框架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" y="1463040"/>
            <a:ext cx="3749039" cy="73152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5760" y="1508760"/>
            <a:ext cx="3749039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微软雅黑"/>
              </a:rPr>
              <a:t>保守情景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" y="1847088"/>
            <a:ext cx="37490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  <a:latin typeface="微软雅黑"/>
              </a:rPr>
              <a:t>Probability: 25%  |  +2% CAGR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5760" y="2194560"/>
            <a:ext cx="3749039" cy="338328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2920" y="2331720"/>
            <a:ext cx="10058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>
                <a:solidFill>
                  <a:srgbClr val="00295B"/>
                </a:solidFill>
                <a:latin typeface="微软雅黑"/>
              </a:rPr>
              <a:t>政策传导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54480" y="2331720"/>
            <a:ext cx="2377439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595959"/>
                </a:solidFill>
                <a:latin typeface="微软雅黑"/>
              </a:rPr>
              <a:t>仅一线 5 城市落地；定额支付被多地变形执行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2971800"/>
            <a:ext cx="10058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>
                <a:solidFill>
                  <a:srgbClr val="00295B"/>
                </a:solidFill>
                <a:latin typeface="微软雅黑"/>
              </a:rPr>
              <a:t>商保进展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554480" y="2971800"/>
            <a:ext cx="2377439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595959"/>
                </a:solidFill>
                <a:latin typeface="微软雅黑"/>
              </a:rPr>
              <a:t>渗透率 &lt; 3%；高单价品种受益有限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20" y="3611880"/>
            <a:ext cx="10058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>
                <a:solidFill>
                  <a:srgbClr val="00295B"/>
                </a:solidFill>
                <a:latin typeface="微软雅黑"/>
              </a:rPr>
              <a:t>DRG 压力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54480" y="3611880"/>
            <a:ext cx="2377439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595959"/>
                </a:solidFill>
                <a:latin typeface="微软雅黑"/>
              </a:rPr>
              <a:t>持续加码，医院仍倾向控费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2920" y="4251960"/>
            <a:ext cx="10058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>
                <a:solidFill>
                  <a:srgbClr val="00295B"/>
                </a:solidFill>
                <a:latin typeface="微软雅黑"/>
              </a:rPr>
              <a:t>竞品行为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554480" y="4251960"/>
            <a:ext cx="2377439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595959"/>
                </a:solidFill>
                <a:latin typeface="微软雅黑"/>
              </a:rPr>
              <a:t>国产创新药快速替代慢病老品类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2920" y="4892040"/>
            <a:ext cx="10058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>
                <a:solidFill>
                  <a:srgbClr val="00295B"/>
                </a:solidFill>
                <a:latin typeface="微软雅黑"/>
              </a:rPr>
              <a:t>收入 2028E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554480" y="4892040"/>
            <a:ext cx="2377439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595959"/>
                </a:solidFill>
                <a:latin typeface="微软雅黑"/>
              </a:rPr>
              <a:t>$2.30B  (vs 2024 $2.17B)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297679" y="1463040"/>
            <a:ext cx="3749039" cy="731520"/>
          </a:xfrm>
          <a:prstGeom prst="rect">
            <a:avLst/>
          </a:prstGeom>
          <a:solidFill>
            <a:srgbClr val="E871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297679" y="1508760"/>
            <a:ext cx="3749039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微软雅黑"/>
              </a:rPr>
              <a:t>基准情景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297679" y="1847088"/>
            <a:ext cx="37490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  <a:latin typeface="微软雅黑"/>
              </a:rPr>
              <a:t>Probability: 50%  |  +4% CAGR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297679" y="2194560"/>
            <a:ext cx="3749039" cy="338328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434839" y="2331720"/>
            <a:ext cx="10058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>
                <a:solidFill>
                  <a:srgbClr val="00295B"/>
                </a:solidFill>
                <a:latin typeface="微软雅黑"/>
              </a:rPr>
              <a:t>政策传导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486399" y="2331720"/>
            <a:ext cx="2377439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595959"/>
                </a:solidFill>
                <a:latin typeface="微软雅黑"/>
              </a:rPr>
              <a:t>30 个重点城市 18 个月内全面落地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434839" y="2971800"/>
            <a:ext cx="10058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>
                <a:solidFill>
                  <a:srgbClr val="00295B"/>
                </a:solidFill>
                <a:latin typeface="微软雅黑"/>
              </a:rPr>
              <a:t>商保进展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486399" y="2971800"/>
            <a:ext cx="2377439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595959"/>
                </a:solidFill>
                <a:latin typeface="微软雅黑"/>
              </a:rPr>
              <a:t>渗透率达 8%；肿瘤+罕见病显著贡献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434839" y="3611880"/>
            <a:ext cx="10058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>
                <a:solidFill>
                  <a:srgbClr val="00295B"/>
                </a:solidFill>
                <a:latin typeface="微软雅黑"/>
              </a:rPr>
              <a:t>DRG 压力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486399" y="3611880"/>
            <a:ext cx="2377439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595959"/>
                </a:solidFill>
                <a:latin typeface="微软雅黑"/>
              </a:rPr>
              <a:t>原研药单列除外目录有效缓冲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434839" y="4251960"/>
            <a:ext cx="10058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>
                <a:solidFill>
                  <a:srgbClr val="00295B"/>
                </a:solidFill>
                <a:latin typeface="微软雅黑"/>
              </a:rPr>
              <a:t>竞品行为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486399" y="4251960"/>
            <a:ext cx="2377439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595959"/>
                </a:solidFill>
                <a:latin typeface="微软雅黑"/>
              </a:rPr>
              <a:t>外资保留 15-25% 院内份额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434839" y="4892040"/>
            <a:ext cx="10058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>
                <a:solidFill>
                  <a:srgbClr val="00295B"/>
                </a:solidFill>
                <a:latin typeface="微软雅黑"/>
              </a:rPr>
              <a:t>收入 2028E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486399" y="4892040"/>
            <a:ext cx="2377439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595959"/>
                </a:solidFill>
                <a:latin typeface="微软雅黑"/>
              </a:rPr>
              <a:t>$2.54B  (vs 2024 $2.17B)</a:t>
            </a:r>
          </a:p>
        </p:txBody>
      </p:sp>
      <p:sp>
        <p:nvSpPr>
          <p:cNvPr id="47" name="Rectangle 46"/>
          <p:cNvSpPr/>
          <p:nvPr/>
        </p:nvSpPr>
        <p:spPr>
          <a:xfrm>
            <a:off x="8229598" y="1463040"/>
            <a:ext cx="3749039" cy="731520"/>
          </a:xfrm>
          <a:prstGeom prst="rect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229598" y="1508760"/>
            <a:ext cx="3749039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微软雅黑"/>
              </a:rPr>
              <a:t>乐观情景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229598" y="1847088"/>
            <a:ext cx="37490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  <a:latin typeface="微软雅黑"/>
              </a:rPr>
              <a:t>Probability: 25%  |  +6% CAGR</a:t>
            </a:r>
          </a:p>
        </p:txBody>
      </p:sp>
      <p:sp>
        <p:nvSpPr>
          <p:cNvPr id="50" name="Rectangle 49"/>
          <p:cNvSpPr/>
          <p:nvPr/>
        </p:nvSpPr>
        <p:spPr>
          <a:xfrm>
            <a:off x="8229598" y="2194560"/>
            <a:ext cx="3749039" cy="338328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8366758" y="2331720"/>
            <a:ext cx="10058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>
                <a:solidFill>
                  <a:srgbClr val="00295B"/>
                </a:solidFill>
                <a:latin typeface="微软雅黑"/>
              </a:rPr>
              <a:t>政策传导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418318" y="2331720"/>
            <a:ext cx="2377439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595959"/>
                </a:solidFill>
                <a:latin typeface="微软雅黑"/>
              </a:rPr>
              <a:t>全国推广 &lt; 12 个月；县域亦覆盖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366758" y="2971800"/>
            <a:ext cx="10058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>
                <a:solidFill>
                  <a:srgbClr val="00295B"/>
                </a:solidFill>
                <a:latin typeface="微软雅黑"/>
              </a:rPr>
              <a:t>商保进展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418318" y="2971800"/>
            <a:ext cx="2377439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595959"/>
                </a:solidFill>
                <a:latin typeface="微软雅黑"/>
              </a:rPr>
              <a:t>渗透率 &gt; 12%；商保规模破 5,000 亿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366758" y="3611880"/>
            <a:ext cx="10058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>
                <a:solidFill>
                  <a:srgbClr val="00295B"/>
                </a:solidFill>
                <a:latin typeface="微软雅黑"/>
              </a:rPr>
              <a:t>DRG 压力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418318" y="3611880"/>
            <a:ext cx="2377439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595959"/>
                </a:solidFill>
                <a:latin typeface="微软雅黑"/>
              </a:rPr>
              <a:t>原研药全国统一除外管理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366758" y="4251960"/>
            <a:ext cx="10058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>
                <a:solidFill>
                  <a:srgbClr val="00295B"/>
                </a:solidFill>
                <a:latin typeface="微软雅黑"/>
              </a:rPr>
              <a:t>竞品行为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9418318" y="4251960"/>
            <a:ext cx="2377439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595959"/>
                </a:solidFill>
                <a:latin typeface="微软雅黑"/>
              </a:rPr>
              <a:t>院内回流 30%+ ；价格保护机制坚固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366758" y="4892040"/>
            <a:ext cx="10058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>
                <a:solidFill>
                  <a:srgbClr val="00295B"/>
                </a:solidFill>
                <a:latin typeface="微软雅黑"/>
              </a:rPr>
              <a:t>收入 2028E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9418318" y="4892040"/>
            <a:ext cx="2377439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595959"/>
                </a:solidFill>
                <a:latin typeface="微软雅黑"/>
              </a:rPr>
              <a:t>$2.74B  (vs 2024 $2.17B)</a:t>
            </a:r>
          </a:p>
        </p:txBody>
      </p:sp>
      <p:sp>
        <p:nvSpPr>
          <p:cNvPr id="61" name="Rectangle 60"/>
          <p:cNvSpPr/>
          <p:nvPr/>
        </p:nvSpPr>
        <p:spPr>
          <a:xfrm>
            <a:off x="365760" y="5715000"/>
            <a:ext cx="640080" cy="457200"/>
          </a:xfrm>
          <a:prstGeom prst="rect">
            <a:avLst/>
          </a:prstGeom>
          <a:solidFill>
            <a:srgbClr val="0029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365760" y="5715000"/>
            <a:ext cx="64008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微软雅黑"/>
              </a:rPr>
              <a:t>EV</a:t>
            </a:r>
          </a:p>
        </p:txBody>
      </p:sp>
      <p:sp>
        <p:nvSpPr>
          <p:cNvPr id="63" name="Rectangle 62"/>
          <p:cNvSpPr/>
          <p:nvPr/>
        </p:nvSpPr>
        <p:spPr>
          <a:xfrm>
            <a:off x="1005840" y="5715000"/>
            <a:ext cx="10881360" cy="457200"/>
          </a:xfrm>
          <a:prstGeom prst="rect">
            <a:avLst/>
          </a:prstGeom>
          <a:solidFill>
            <a:srgbClr val="CFE2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1188720" y="5715000"/>
            <a:ext cx="1069848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>
                <a:solidFill>
                  <a:srgbClr val="00295B"/>
                </a:solidFill>
                <a:latin typeface="微软雅黑"/>
              </a:rPr>
              <a:t>概率加权期望值：2028E 中国区收入 $2.53B  |  对应 4 年 CAGR ~+3.9%  |  占 Viatris 全球收入比例从 14.8% 上升至 ~17%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365760" y="6263640"/>
            <a:ext cx="11430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B7B7B7"/>
                </a:solidFill>
                <a:latin typeface="微软雅黑"/>
              </a:rPr>
              <a:t>资料来源：本团队基于 Viatris 财报 + 政策传导弹性 + 米内网终端数据，建立 DCF 三情景模型测算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29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B7B7B7"/>
                </a:solidFill>
                <a:latin typeface="微软雅黑"/>
              </a:rPr>
              <a:t>晖致中国业绩影响研判  |  医保新政分析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24160" y="164592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B7B7B7"/>
                </a:solidFill>
                <a:latin typeface="微软雅黑"/>
              </a:rPr>
              <a:t>11 / 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411480"/>
            <a:ext cx="115214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00295B"/>
                </a:solidFill>
                <a:latin typeface="微软雅黑"/>
              </a:rPr>
              <a:t>需重点跟踪 5 类下行风险——其中「政策回摆」和「DRG 控费」最具杀伤力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886968"/>
            <a:ext cx="115214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  <a:latin typeface="微软雅黑"/>
              </a:rPr>
              <a:t>风险矩阵 (影响 × 概率)：1 个高高风险 (DRG 紧缩)，2 个中高风险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365760" y="1207008"/>
            <a:ext cx="11457432" cy="0"/>
          </a:xfrm>
          <a:prstGeom prst="line">
            <a:avLst/>
          </a:prstGeom>
          <a:ln w="15875">
            <a:solidFill>
              <a:srgbClr val="0029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365760" y="6537960"/>
            <a:ext cx="1463040" cy="22860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6537960"/>
            <a:ext cx="146304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50" b="1">
                <a:solidFill>
                  <a:srgbClr val="595959"/>
                </a:solidFill>
                <a:latin typeface="微软雅黑"/>
              </a:rPr>
              <a:t>1. 政策背景</a:t>
            </a:r>
          </a:p>
        </p:txBody>
      </p:sp>
      <p:sp>
        <p:nvSpPr>
          <p:cNvPr id="10" name="Rectangle 9"/>
          <p:cNvSpPr/>
          <p:nvPr/>
        </p:nvSpPr>
        <p:spPr>
          <a:xfrm>
            <a:off x="1920240" y="6537960"/>
            <a:ext cx="1463040" cy="22860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920240" y="6537960"/>
            <a:ext cx="146304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50" b="1">
                <a:solidFill>
                  <a:srgbClr val="595959"/>
                </a:solidFill>
                <a:latin typeface="微软雅黑"/>
              </a:rPr>
              <a:t>2. 新政详解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474720" y="6537960"/>
            <a:ext cx="1463040" cy="22860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74720" y="6537960"/>
            <a:ext cx="146304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50" b="1">
                <a:solidFill>
                  <a:srgbClr val="595959"/>
                </a:solidFill>
                <a:latin typeface="微软雅黑"/>
              </a:rPr>
              <a:t>3. 市场影响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0" y="6537960"/>
            <a:ext cx="1463040" cy="228600"/>
          </a:xfrm>
          <a:prstGeom prst="rect">
            <a:avLst/>
          </a:prstGeom>
          <a:solidFill>
            <a:srgbClr val="0029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0" y="6537960"/>
            <a:ext cx="146304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微软雅黑"/>
              </a:rPr>
              <a:t>4. 晖致研判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583680" y="6537960"/>
            <a:ext cx="1463040" cy="22860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0" y="6537960"/>
            <a:ext cx="146304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50" b="1">
                <a:solidFill>
                  <a:srgbClr val="595959"/>
                </a:solidFill>
                <a:latin typeface="微软雅黑"/>
              </a:rPr>
              <a:t>5. 战略启示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0" y="6565392"/>
            <a:ext cx="18288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0">
                <a:solidFill>
                  <a:srgbClr val="B7B7B7"/>
                </a:solidFill>
                <a:latin typeface="微软雅黑"/>
              </a:rPr>
              <a:t>麦肯锡风格分析框架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548640" y="5943600"/>
            <a:ext cx="5029200" cy="0"/>
          </a:xfrm>
          <a:prstGeom prst="line">
            <a:avLst/>
          </a:prstGeom>
          <a:ln w="19050">
            <a:solidFill>
              <a:srgbClr val="0029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548640" y="1554480"/>
            <a:ext cx="0" cy="4389120"/>
          </a:xfrm>
          <a:prstGeom prst="line">
            <a:avLst/>
          </a:prstGeom>
          <a:ln w="19050">
            <a:solidFill>
              <a:srgbClr val="0029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274320" y="128016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00295B"/>
                </a:solidFill>
                <a:latin typeface="微软雅黑"/>
              </a:rPr>
              <a:t>↑ 影响程度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749040" y="598932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1">
                <a:solidFill>
                  <a:srgbClr val="00295B"/>
                </a:solidFill>
                <a:latin typeface="微软雅黑"/>
              </a:rPr>
              <a:t>发生概率 →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2208276" y="1554480"/>
            <a:ext cx="0" cy="4389120"/>
          </a:xfrm>
          <a:prstGeom prst="line">
            <a:avLst/>
          </a:prstGeom>
          <a:ln w="6350">
            <a:solidFill>
              <a:srgbClr val="B7B7B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548640" y="3002889"/>
            <a:ext cx="5029200" cy="0"/>
          </a:xfrm>
          <a:prstGeom prst="line">
            <a:avLst/>
          </a:prstGeom>
          <a:ln w="6350">
            <a:solidFill>
              <a:srgbClr val="B7B7B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3918204" y="1554480"/>
            <a:ext cx="0" cy="4389120"/>
          </a:xfrm>
          <a:prstGeom prst="line">
            <a:avLst/>
          </a:prstGeom>
          <a:ln w="6350">
            <a:solidFill>
              <a:srgbClr val="B7B7B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548640" y="4495190"/>
            <a:ext cx="5029200" cy="0"/>
          </a:xfrm>
          <a:prstGeom prst="line">
            <a:avLst/>
          </a:prstGeom>
          <a:ln w="6350">
            <a:solidFill>
              <a:srgbClr val="B7B7B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Oval 26"/>
          <p:cNvSpPr/>
          <p:nvPr/>
        </p:nvSpPr>
        <p:spPr>
          <a:xfrm>
            <a:off x="4389120" y="1810512"/>
            <a:ext cx="365760" cy="365760"/>
          </a:xfrm>
          <a:prstGeom prst="ellipse">
            <a:avLst/>
          </a:prstGeom>
          <a:solidFill>
            <a:srgbClr val="C039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389120" y="1810512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微软雅黑"/>
              </a:rPr>
              <a:t>R1</a:t>
            </a:r>
          </a:p>
        </p:txBody>
      </p:sp>
      <p:sp>
        <p:nvSpPr>
          <p:cNvPr id="29" name="Oval 28"/>
          <p:cNvSpPr/>
          <p:nvPr/>
        </p:nvSpPr>
        <p:spPr>
          <a:xfrm>
            <a:off x="2880360" y="2249424"/>
            <a:ext cx="365760" cy="365760"/>
          </a:xfrm>
          <a:prstGeom prst="ellipse">
            <a:avLst/>
          </a:prstGeom>
          <a:solidFill>
            <a:srgbClr val="E87122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880360" y="2249424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微软雅黑"/>
              </a:rPr>
              <a:t>R2</a:t>
            </a:r>
          </a:p>
        </p:txBody>
      </p:sp>
      <p:sp>
        <p:nvSpPr>
          <p:cNvPr id="31" name="Oval 30"/>
          <p:cNvSpPr/>
          <p:nvPr/>
        </p:nvSpPr>
        <p:spPr>
          <a:xfrm>
            <a:off x="3383280" y="2688336"/>
            <a:ext cx="365760" cy="365760"/>
          </a:xfrm>
          <a:prstGeom prst="ellipse">
            <a:avLst/>
          </a:prstGeom>
          <a:solidFill>
            <a:srgbClr val="E87122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383280" y="2688336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微软雅黑"/>
              </a:rPr>
              <a:t>R3</a:t>
            </a:r>
          </a:p>
        </p:txBody>
      </p:sp>
      <p:sp>
        <p:nvSpPr>
          <p:cNvPr id="33" name="Oval 32"/>
          <p:cNvSpPr/>
          <p:nvPr/>
        </p:nvSpPr>
        <p:spPr>
          <a:xfrm>
            <a:off x="2628900" y="3346704"/>
            <a:ext cx="365760" cy="365760"/>
          </a:xfrm>
          <a:prstGeom prst="ellipse">
            <a:avLst/>
          </a:prstGeom>
          <a:solidFill>
            <a:srgbClr val="006BA6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628900" y="3346704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微软雅黑"/>
              </a:rPr>
              <a:t>R4</a:t>
            </a:r>
          </a:p>
        </p:txBody>
      </p:sp>
      <p:sp>
        <p:nvSpPr>
          <p:cNvPr id="35" name="Oval 34"/>
          <p:cNvSpPr/>
          <p:nvPr/>
        </p:nvSpPr>
        <p:spPr>
          <a:xfrm>
            <a:off x="3886200" y="4005072"/>
            <a:ext cx="365760" cy="365760"/>
          </a:xfrm>
          <a:prstGeom prst="ellipse">
            <a:avLst/>
          </a:prstGeom>
          <a:solidFill>
            <a:srgbClr val="006BA6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886200" y="4005072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微软雅黑"/>
              </a:rPr>
              <a:t>R5</a:t>
            </a:r>
          </a:p>
        </p:txBody>
      </p:sp>
      <p:sp>
        <p:nvSpPr>
          <p:cNvPr id="37" name="Oval 36"/>
          <p:cNvSpPr/>
          <p:nvPr/>
        </p:nvSpPr>
        <p:spPr>
          <a:xfrm>
            <a:off x="1874520" y="3566160"/>
            <a:ext cx="365760" cy="365760"/>
          </a:xfrm>
          <a:prstGeom prst="ellipse">
            <a:avLst/>
          </a:prstGeom>
          <a:solidFill>
            <a:srgbClr val="B7B7B7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874520" y="3566160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微软雅黑"/>
              </a:rPr>
              <a:t>R6</a:t>
            </a:r>
          </a:p>
        </p:txBody>
      </p:sp>
      <p:sp>
        <p:nvSpPr>
          <p:cNvPr id="39" name="Oval 38"/>
          <p:cNvSpPr/>
          <p:nvPr/>
        </p:nvSpPr>
        <p:spPr>
          <a:xfrm>
            <a:off x="1623060" y="4443984"/>
            <a:ext cx="365760" cy="365760"/>
          </a:xfrm>
          <a:prstGeom prst="ellipse">
            <a:avLst/>
          </a:prstGeom>
          <a:solidFill>
            <a:srgbClr val="B7B7B7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623060" y="4443984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微软雅黑"/>
              </a:rPr>
              <a:t>R7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852160" y="1417320"/>
            <a:ext cx="6217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00295B"/>
                </a:solidFill>
                <a:latin typeface="微软雅黑"/>
              </a:rPr>
              <a:t>风险清单与缓释措施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852160" y="1828800"/>
            <a:ext cx="365760" cy="603504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852160" y="1828800"/>
            <a:ext cx="365760" cy="6035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微软雅黑"/>
              </a:rPr>
              <a:t>R1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217920" y="1828800"/>
            <a:ext cx="5669280" cy="603504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309360" y="1856232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00295B"/>
                </a:solidFill>
                <a:latin typeface="微软雅黑"/>
              </a:rPr>
              <a:t>DRG/DIP 突然收紧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309360" y="2121408"/>
            <a:ext cx="5486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微软雅黑"/>
              </a:rPr>
              <a:t>缓释：原研单列除外目录纳入医保协议；行业协会持续沟通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852160" y="2450592"/>
            <a:ext cx="365760" cy="603504"/>
          </a:xfrm>
          <a:prstGeom prst="rect">
            <a:avLst/>
          </a:prstGeom>
          <a:solidFill>
            <a:srgbClr val="E871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5852160" y="2450592"/>
            <a:ext cx="365760" cy="6035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微软雅黑"/>
              </a:rPr>
              <a:t>R2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217920" y="2450592"/>
            <a:ext cx="5669280" cy="603504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309360" y="2478024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00295B"/>
                </a:solidFill>
                <a:latin typeface="微软雅黑"/>
              </a:rPr>
              <a:t>国采第10批扩围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309360" y="2743200"/>
            <a:ext cx="5486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微软雅黑"/>
              </a:rPr>
              <a:t>缓释：提前布局复杂剂型/吸入剂；增加 OTC 转化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852160" y="3072384"/>
            <a:ext cx="365760" cy="603504"/>
          </a:xfrm>
          <a:prstGeom prst="rect">
            <a:avLst/>
          </a:prstGeom>
          <a:solidFill>
            <a:srgbClr val="E871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5852160" y="3072384"/>
            <a:ext cx="365760" cy="6035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微软雅黑"/>
              </a:rPr>
              <a:t>R3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217920" y="3072384"/>
            <a:ext cx="5669280" cy="603504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309360" y="3099816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00295B"/>
                </a:solidFill>
                <a:latin typeface="微软雅黑"/>
              </a:rPr>
              <a:t>定额支付政策回摆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309360" y="3364992"/>
            <a:ext cx="5486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微软雅黑"/>
              </a:rPr>
              <a:t>缓释：推动商保创新药目录的「兜底」属性</a:t>
            </a:r>
          </a:p>
        </p:txBody>
      </p:sp>
      <p:sp>
        <p:nvSpPr>
          <p:cNvPr id="57" name="Rectangle 56"/>
          <p:cNvSpPr/>
          <p:nvPr/>
        </p:nvSpPr>
        <p:spPr>
          <a:xfrm>
            <a:off x="5852160" y="3694176"/>
            <a:ext cx="365760" cy="603504"/>
          </a:xfrm>
          <a:prstGeom prst="rect">
            <a:avLst/>
          </a:prstGeom>
          <a:solidFill>
            <a:srgbClr val="006B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5852160" y="3694176"/>
            <a:ext cx="365760" cy="6035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微软雅黑"/>
              </a:rPr>
              <a:t>R4</a:t>
            </a:r>
          </a:p>
        </p:txBody>
      </p:sp>
      <p:sp>
        <p:nvSpPr>
          <p:cNvPr id="59" name="Rectangle 58"/>
          <p:cNvSpPr/>
          <p:nvPr/>
        </p:nvSpPr>
        <p:spPr>
          <a:xfrm>
            <a:off x="6217920" y="3694176"/>
            <a:ext cx="5669280" cy="603504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6309360" y="3721608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00295B"/>
                </a:solidFill>
                <a:latin typeface="微软雅黑"/>
              </a:rPr>
              <a:t>国产替代加速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309360" y="3986784"/>
            <a:ext cx="5486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微软雅黑"/>
              </a:rPr>
              <a:t>缓释：强化品牌教育、真实世界证据 + 患者管理服务</a:t>
            </a:r>
          </a:p>
        </p:txBody>
      </p:sp>
      <p:sp>
        <p:nvSpPr>
          <p:cNvPr id="62" name="Rectangle 61"/>
          <p:cNvSpPr/>
          <p:nvPr/>
        </p:nvSpPr>
        <p:spPr>
          <a:xfrm>
            <a:off x="5852160" y="4315968"/>
            <a:ext cx="365760" cy="603504"/>
          </a:xfrm>
          <a:prstGeom prst="rect">
            <a:avLst/>
          </a:prstGeom>
          <a:solidFill>
            <a:srgbClr val="006B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5852160" y="4315968"/>
            <a:ext cx="365760" cy="6035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微软雅黑"/>
              </a:rPr>
              <a:t>R5</a:t>
            </a:r>
          </a:p>
        </p:txBody>
      </p:sp>
      <p:sp>
        <p:nvSpPr>
          <p:cNvPr id="64" name="Rectangle 63"/>
          <p:cNvSpPr/>
          <p:nvPr/>
        </p:nvSpPr>
        <p:spPr>
          <a:xfrm>
            <a:off x="6217920" y="4315968"/>
            <a:ext cx="5669280" cy="603504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6309360" y="4343400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00295B"/>
                </a:solidFill>
                <a:latin typeface="微软雅黑"/>
              </a:rPr>
              <a:t>医保飞检合规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6309360" y="4608576"/>
            <a:ext cx="5486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微软雅黑"/>
              </a:rPr>
              <a:t>缓释：深化合规体系；从带金销售向学术驱动彻底转型</a:t>
            </a:r>
          </a:p>
        </p:txBody>
      </p:sp>
      <p:sp>
        <p:nvSpPr>
          <p:cNvPr id="67" name="Rectangle 66"/>
          <p:cNvSpPr/>
          <p:nvPr/>
        </p:nvSpPr>
        <p:spPr>
          <a:xfrm>
            <a:off x="5852160" y="4937760"/>
            <a:ext cx="365760" cy="603504"/>
          </a:xfrm>
          <a:prstGeom prst="rect">
            <a:avLst/>
          </a:prstGeom>
          <a:solidFill>
            <a:srgbClr val="B7B7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5852160" y="4937760"/>
            <a:ext cx="365760" cy="6035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微软雅黑"/>
              </a:rPr>
              <a:t>R6</a:t>
            </a:r>
          </a:p>
        </p:txBody>
      </p:sp>
      <p:sp>
        <p:nvSpPr>
          <p:cNvPr id="69" name="Rectangle 68"/>
          <p:cNvSpPr/>
          <p:nvPr/>
        </p:nvSpPr>
        <p:spPr>
          <a:xfrm>
            <a:off x="6217920" y="4937760"/>
            <a:ext cx="5669280" cy="603504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6309360" y="4965192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00295B"/>
                </a:solidFill>
                <a:latin typeface="微软雅黑"/>
              </a:rPr>
              <a:t>商保扩容不及预期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6309360" y="5230368"/>
            <a:ext cx="5486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微软雅黑"/>
              </a:rPr>
              <a:t>缓释：与头部商保公司联合开发专属药品险种</a:t>
            </a:r>
          </a:p>
        </p:txBody>
      </p:sp>
      <p:sp>
        <p:nvSpPr>
          <p:cNvPr id="72" name="Rectangle 71"/>
          <p:cNvSpPr/>
          <p:nvPr/>
        </p:nvSpPr>
        <p:spPr>
          <a:xfrm>
            <a:off x="5852160" y="5559552"/>
            <a:ext cx="365760" cy="603504"/>
          </a:xfrm>
          <a:prstGeom prst="rect">
            <a:avLst/>
          </a:prstGeom>
          <a:solidFill>
            <a:srgbClr val="B7B7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5852160" y="5559552"/>
            <a:ext cx="365760" cy="6035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微软雅黑"/>
              </a:rPr>
              <a:t>R7</a:t>
            </a:r>
          </a:p>
        </p:txBody>
      </p:sp>
      <p:sp>
        <p:nvSpPr>
          <p:cNvPr id="74" name="Rectangle 73"/>
          <p:cNvSpPr/>
          <p:nvPr/>
        </p:nvSpPr>
        <p:spPr>
          <a:xfrm>
            <a:off x="6217920" y="5559552"/>
            <a:ext cx="5669280" cy="603504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6309360" y="5586984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00295B"/>
                </a:solidFill>
                <a:latin typeface="微软雅黑"/>
              </a:rPr>
              <a:t>海外政策外溢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6309360" y="5852160"/>
            <a:ext cx="5486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微软雅黑"/>
              </a:rPr>
              <a:t>缓释：汇率对冲；中国区独立 P&amp;L 与中国上市路径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365760" y="6263640"/>
            <a:ext cx="11430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B7B7B7"/>
                </a:solidFill>
                <a:latin typeface="微软雅黑"/>
              </a:rPr>
              <a:t>资料来源：国家医保局飞检通报；中国药学会临床用药政策跟踪；本团队风险评估模型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29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B7B7B7"/>
                </a:solidFill>
                <a:latin typeface="微软雅黑"/>
              </a:rPr>
              <a:t>晖致中国业绩影响研判  |  医保新政分析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24160" y="164592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B7B7B7"/>
                </a:solidFill>
                <a:latin typeface="微软雅黑"/>
              </a:rPr>
              <a:t>12 / 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411480"/>
            <a:ext cx="115214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00295B"/>
                </a:solidFill>
                <a:latin typeface="微软雅黑"/>
              </a:rPr>
              <a:t>三层战略建议：晖致应抢占政策窗口期，将「品牌资产」转化为「现金流锚」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886968"/>
            <a:ext cx="115214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  <a:latin typeface="微软雅黑"/>
              </a:rPr>
              <a:t>从「被动应对集采」转为「主动重构渠道与支付」——No-regret moves + Bold bets 双线推进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365760" y="1207008"/>
            <a:ext cx="11457432" cy="0"/>
          </a:xfrm>
          <a:prstGeom prst="line">
            <a:avLst/>
          </a:prstGeom>
          <a:ln w="15875">
            <a:solidFill>
              <a:srgbClr val="0029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365760" y="6537960"/>
            <a:ext cx="1463040" cy="22860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6537960"/>
            <a:ext cx="146304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50" b="1">
                <a:solidFill>
                  <a:srgbClr val="595959"/>
                </a:solidFill>
                <a:latin typeface="微软雅黑"/>
              </a:rPr>
              <a:t>1. 政策背景</a:t>
            </a:r>
          </a:p>
        </p:txBody>
      </p:sp>
      <p:sp>
        <p:nvSpPr>
          <p:cNvPr id="10" name="Rectangle 9"/>
          <p:cNvSpPr/>
          <p:nvPr/>
        </p:nvSpPr>
        <p:spPr>
          <a:xfrm>
            <a:off x="1920240" y="6537960"/>
            <a:ext cx="1463040" cy="22860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920240" y="6537960"/>
            <a:ext cx="146304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50" b="1">
                <a:solidFill>
                  <a:srgbClr val="595959"/>
                </a:solidFill>
                <a:latin typeface="微软雅黑"/>
              </a:rPr>
              <a:t>2. 新政详解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474720" y="6537960"/>
            <a:ext cx="1463040" cy="22860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74720" y="6537960"/>
            <a:ext cx="146304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50" b="1">
                <a:solidFill>
                  <a:srgbClr val="595959"/>
                </a:solidFill>
                <a:latin typeface="微软雅黑"/>
              </a:rPr>
              <a:t>3. 市场影响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0" y="6537960"/>
            <a:ext cx="1463040" cy="22860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0" y="6537960"/>
            <a:ext cx="146304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50" b="1">
                <a:solidFill>
                  <a:srgbClr val="595959"/>
                </a:solidFill>
                <a:latin typeface="微软雅黑"/>
              </a:rPr>
              <a:t>4. 晖致研判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583680" y="6537960"/>
            <a:ext cx="1463040" cy="228600"/>
          </a:xfrm>
          <a:prstGeom prst="rect">
            <a:avLst/>
          </a:prstGeom>
          <a:solidFill>
            <a:srgbClr val="0029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0" y="6537960"/>
            <a:ext cx="146304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微软雅黑"/>
              </a:rPr>
              <a:t>5. 战略启示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0" y="6565392"/>
            <a:ext cx="18288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0">
                <a:solidFill>
                  <a:srgbClr val="B7B7B7"/>
                </a:solidFill>
                <a:latin typeface="微软雅黑"/>
              </a:rPr>
              <a:t>麦肯锡风格分析框架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" y="1417320"/>
            <a:ext cx="2194560" cy="1508760"/>
          </a:xfrm>
          <a:prstGeom prst="rect">
            <a:avLst/>
          </a:prstGeom>
          <a:solidFill>
            <a:srgbClr val="0029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5760" y="1417320"/>
            <a:ext cx="2194560" cy="1508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微软雅黑"/>
              </a:rPr>
              <a:t>Now (0–6 个月) — 抢窗口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560320" y="1417320"/>
            <a:ext cx="9326880" cy="150876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2697480" y="1673352"/>
            <a:ext cx="91440" cy="91440"/>
          </a:xfrm>
          <a:prstGeom prst="ellipse">
            <a:avLst/>
          </a:prstGeom>
          <a:solidFill>
            <a:srgbClr val="0029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880360" y="1554480"/>
            <a:ext cx="88696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595959"/>
                </a:solidFill>
                <a:latin typeface="微软雅黑"/>
              </a:rPr>
              <a:t>组建「医院重返特别工作组」，定位 30 个重点城市的 500 强公立医院重新入院</a:t>
            </a:r>
          </a:p>
        </p:txBody>
      </p:sp>
      <p:sp>
        <p:nvSpPr>
          <p:cNvPr id="24" name="Oval 23"/>
          <p:cNvSpPr/>
          <p:nvPr/>
        </p:nvSpPr>
        <p:spPr>
          <a:xfrm>
            <a:off x="2697480" y="2084832"/>
            <a:ext cx="91440" cy="91440"/>
          </a:xfrm>
          <a:prstGeom prst="ellipse">
            <a:avLst/>
          </a:prstGeom>
          <a:solidFill>
            <a:srgbClr val="0029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880360" y="1965960"/>
            <a:ext cx="88696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595959"/>
                </a:solidFill>
                <a:latin typeface="微软雅黑"/>
              </a:rPr>
              <a:t>重启医院药事会沟通模板与学术活动；针对慢病科室更新真实世界证据包</a:t>
            </a:r>
          </a:p>
        </p:txBody>
      </p:sp>
      <p:sp>
        <p:nvSpPr>
          <p:cNvPr id="26" name="Oval 25"/>
          <p:cNvSpPr/>
          <p:nvPr/>
        </p:nvSpPr>
        <p:spPr>
          <a:xfrm>
            <a:off x="2697480" y="2496312"/>
            <a:ext cx="91440" cy="91440"/>
          </a:xfrm>
          <a:prstGeom prst="ellipse">
            <a:avLst/>
          </a:prstGeom>
          <a:solidFill>
            <a:srgbClr val="0029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880360" y="2377440"/>
            <a:ext cx="88696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595959"/>
                </a:solidFill>
                <a:latin typeface="微软雅黑"/>
              </a:rPr>
              <a:t>与头部商保公司 (平安、太保、众安) 联合谈判，争取进入商保创新药目录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65760" y="3017520"/>
            <a:ext cx="2194560" cy="1508760"/>
          </a:xfrm>
          <a:prstGeom prst="rect">
            <a:avLst/>
          </a:prstGeom>
          <a:solidFill>
            <a:srgbClr val="006B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65760" y="3017520"/>
            <a:ext cx="2194560" cy="1508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微软雅黑"/>
              </a:rPr>
              <a:t>Next (6–18 个月) — 重构能力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560320" y="3017520"/>
            <a:ext cx="9326880" cy="150876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2697480" y="3273552"/>
            <a:ext cx="91440" cy="91440"/>
          </a:xfrm>
          <a:prstGeom prst="ellipse">
            <a:avLst/>
          </a:prstGeom>
          <a:solidFill>
            <a:srgbClr val="006B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880360" y="3154680"/>
            <a:ext cx="88696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595959"/>
                </a:solidFill>
                <a:latin typeface="微软雅黑"/>
              </a:rPr>
              <a:t>搭建「院内+院外+商保」三轮渠道数智化中台 (Salesforce + 全渠道库存)</a:t>
            </a:r>
          </a:p>
        </p:txBody>
      </p:sp>
      <p:sp>
        <p:nvSpPr>
          <p:cNvPr id="33" name="Oval 32"/>
          <p:cNvSpPr/>
          <p:nvPr/>
        </p:nvSpPr>
        <p:spPr>
          <a:xfrm>
            <a:off x="2697480" y="3685032"/>
            <a:ext cx="91440" cy="91440"/>
          </a:xfrm>
          <a:prstGeom prst="ellipse">
            <a:avLst/>
          </a:prstGeom>
          <a:solidFill>
            <a:srgbClr val="006B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880360" y="3566160"/>
            <a:ext cx="88696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595959"/>
                </a:solidFill>
                <a:latin typeface="微软雅黑"/>
              </a:rPr>
              <a:t>对立普妥/络活喜启动「品牌焕新」+ 患者管理 APP，固化品牌溢价</a:t>
            </a:r>
          </a:p>
        </p:txBody>
      </p:sp>
      <p:sp>
        <p:nvSpPr>
          <p:cNvPr id="35" name="Oval 34"/>
          <p:cNvSpPr/>
          <p:nvPr/>
        </p:nvSpPr>
        <p:spPr>
          <a:xfrm>
            <a:off x="2697480" y="4096512"/>
            <a:ext cx="91440" cy="91440"/>
          </a:xfrm>
          <a:prstGeom prst="ellipse">
            <a:avLst/>
          </a:prstGeom>
          <a:solidFill>
            <a:srgbClr val="006B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880360" y="3977640"/>
            <a:ext cx="88696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595959"/>
                </a:solidFill>
                <a:latin typeface="微软雅黑"/>
              </a:rPr>
              <a:t>评估 2-3 个本土 me-better 资产 BD 引进，丰富非过专利组合 (对冲长期单一依赖)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65760" y="4617720"/>
            <a:ext cx="2194560" cy="1508760"/>
          </a:xfrm>
          <a:prstGeom prst="rect">
            <a:avLst/>
          </a:prstGeom>
          <a:solidFill>
            <a:srgbClr val="E871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65760" y="4617720"/>
            <a:ext cx="2194560" cy="1508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微软雅黑"/>
              </a:rPr>
              <a:t>Beyond (18+ 个月) — 战略选项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560320" y="4617720"/>
            <a:ext cx="9326880" cy="150876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2697480" y="4873752"/>
            <a:ext cx="91440" cy="91440"/>
          </a:xfrm>
          <a:prstGeom prst="ellipse">
            <a:avLst/>
          </a:prstGeom>
          <a:solidFill>
            <a:srgbClr val="E871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2880360" y="4754880"/>
            <a:ext cx="88696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595959"/>
                </a:solidFill>
                <a:latin typeface="微软雅黑"/>
              </a:rPr>
              <a:t>评估中国区分拆/IPO 选项 (港股 18A 或科创板 ADR)，提升中国估值溢价</a:t>
            </a:r>
          </a:p>
        </p:txBody>
      </p:sp>
      <p:sp>
        <p:nvSpPr>
          <p:cNvPr id="42" name="Oval 41"/>
          <p:cNvSpPr/>
          <p:nvPr/>
        </p:nvSpPr>
        <p:spPr>
          <a:xfrm>
            <a:off x="2697480" y="5285232"/>
            <a:ext cx="91440" cy="91440"/>
          </a:xfrm>
          <a:prstGeom prst="ellipse">
            <a:avLst/>
          </a:prstGeom>
          <a:solidFill>
            <a:srgbClr val="E871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2880360" y="5166360"/>
            <a:ext cx="88696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595959"/>
                </a:solidFill>
                <a:latin typeface="微软雅黑"/>
              </a:rPr>
              <a:t>推动「Viatris China 2.0」：从过专利原研巨头进化为「品牌+复杂仿制+生物类似药」综合体</a:t>
            </a:r>
          </a:p>
        </p:txBody>
      </p:sp>
      <p:sp>
        <p:nvSpPr>
          <p:cNvPr id="44" name="Oval 43"/>
          <p:cNvSpPr/>
          <p:nvPr/>
        </p:nvSpPr>
        <p:spPr>
          <a:xfrm>
            <a:off x="2697480" y="5696712"/>
            <a:ext cx="91440" cy="91440"/>
          </a:xfrm>
          <a:prstGeom prst="ellipse">
            <a:avLst/>
          </a:prstGeom>
          <a:solidFill>
            <a:srgbClr val="E871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2880360" y="5577840"/>
            <a:ext cx="88696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595959"/>
                </a:solidFill>
                <a:latin typeface="微软雅黑"/>
              </a:rPr>
              <a:t>前瞻布局商保险种共创、企业团险、惠民保等支付方多元化基础设施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65760" y="6263640"/>
            <a:ext cx="11430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B7B7B7"/>
                </a:solidFill>
                <a:latin typeface="微软雅黑"/>
              </a:rPr>
              <a:t>资料来源：本团队战略建议；参考 Pfizer、Sanofi 类似过专利组合的全球应对案例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29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B7B7B7"/>
                </a:solidFill>
                <a:latin typeface="微软雅黑"/>
              </a:rPr>
              <a:t>晖致中国业绩影响研判  |  医保新政分析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24160" y="164592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B7B7B7"/>
                </a:solidFill>
                <a:latin typeface="微软雅黑"/>
              </a:rPr>
              <a:t>13 / 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411480"/>
            <a:ext cx="115214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00295B"/>
                </a:solidFill>
                <a:latin typeface="微软雅黑"/>
              </a:rPr>
              <a:t>建议建立 10 项前瞻指标动态跟踪政策落地与业绩兑现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886968"/>
            <a:ext cx="115214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  <a:latin typeface="微软雅黑"/>
              </a:rPr>
              <a:t>Leading indicators 比财报数据领先 2-3 个季度，可作为投资/经营决策的「早期预警系统」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365760" y="1207008"/>
            <a:ext cx="11457432" cy="0"/>
          </a:xfrm>
          <a:prstGeom prst="line">
            <a:avLst/>
          </a:prstGeom>
          <a:ln w="15875">
            <a:solidFill>
              <a:srgbClr val="0029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365760" y="6537960"/>
            <a:ext cx="1463040" cy="22860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6537960"/>
            <a:ext cx="146304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50" b="1">
                <a:solidFill>
                  <a:srgbClr val="595959"/>
                </a:solidFill>
                <a:latin typeface="微软雅黑"/>
              </a:rPr>
              <a:t>1. 政策背景</a:t>
            </a:r>
          </a:p>
        </p:txBody>
      </p:sp>
      <p:sp>
        <p:nvSpPr>
          <p:cNvPr id="10" name="Rectangle 9"/>
          <p:cNvSpPr/>
          <p:nvPr/>
        </p:nvSpPr>
        <p:spPr>
          <a:xfrm>
            <a:off x="1920240" y="6537960"/>
            <a:ext cx="1463040" cy="22860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920240" y="6537960"/>
            <a:ext cx="146304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50" b="1">
                <a:solidFill>
                  <a:srgbClr val="595959"/>
                </a:solidFill>
                <a:latin typeface="微软雅黑"/>
              </a:rPr>
              <a:t>2. 新政详解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474720" y="6537960"/>
            <a:ext cx="1463040" cy="22860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74720" y="6537960"/>
            <a:ext cx="146304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50" b="1">
                <a:solidFill>
                  <a:srgbClr val="595959"/>
                </a:solidFill>
                <a:latin typeface="微软雅黑"/>
              </a:rPr>
              <a:t>3. 市场影响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0" y="6537960"/>
            <a:ext cx="1463040" cy="22860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0" y="6537960"/>
            <a:ext cx="146304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50" b="1">
                <a:solidFill>
                  <a:srgbClr val="595959"/>
                </a:solidFill>
                <a:latin typeface="微软雅黑"/>
              </a:rPr>
              <a:t>4. 晖致研判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583680" y="6537960"/>
            <a:ext cx="1463040" cy="228600"/>
          </a:xfrm>
          <a:prstGeom prst="rect">
            <a:avLst/>
          </a:prstGeom>
          <a:solidFill>
            <a:srgbClr val="0029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0" y="6537960"/>
            <a:ext cx="146304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微软雅黑"/>
              </a:rPr>
              <a:t>5. 战略启示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0" y="6565392"/>
            <a:ext cx="18288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0">
                <a:solidFill>
                  <a:srgbClr val="B7B7B7"/>
                </a:solidFill>
                <a:latin typeface="微软雅黑"/>
              </a:rPr>
              <a:t>麦肯锡风格分析框架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" y="1417320"/>
            <a:ext cx="5760720" cy="457200"/>
          </a:xfrm>
          <a:prstGeom prst="rect">
            <a:avLst/>
          </a:prstGeom>
          <a:solidFill>
            <a:srgbClr val="0029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5760" y="1417320"/>
            <a:ext cx="576072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微软雅黑"/>
              </a:rPr>
              <a:t>Leading Indicators (政策与渠道前瞻)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309360" y="1417320"/>
            <a:ext cx="5760720" cy="457200"/>
          </a:xfrm>
          <a:prstGeom prst="rect">
            <a:avLst/>
          </a:prstGeom>
          <a:solidFill>
            <a:srgbClr val="E871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09360" y="1417320"/>
            <a:ext cx="576072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微软雅黑"/>
              </a:rPr>
              <a:t>Lagging Indicators (业绩兑现)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65760" y="1965960"/>
            <a:ext cx="457200" cy="777240"/>
          </a:xfrm>
          <a:prstGeom prst="rect">
            <a:avLst/>
          </a:prstGeom>
          <a:solidFill>
            <a:srgbClr val="0029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65760" y="1965960"/>
            <a:ext cx="45720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L1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22960" y="1965960"/>
            <a:ext cx="5303520" cy="77724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60120" y="2011680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00295B"/>
                </a:solidFill>
                <a:latin typeface="微软雅黑"/>
              </a:rPr>
              <a:t>试点城市数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60120" y="2350008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595959"/>
                </a:solidFill>
                <a:latin typeface="微软雅黑"/>
              </a:rPr>
              <a:t>定额支付落地城市数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749040" y="2194560"/>
            <a:ext cx="2286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1">
                <a:solidFill>
                  <a:srgbClr val="2E8B57"/>
                </a:solidFill>
                <a:latin typeface="微软雅黑"/>
              </a:rPr>
              <a:t>目标: ≥ 30 (12 mo)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65760" y="2807208"/>
            <a:ext cx="457200" cy="777240"/>
          </a:xfrm>
          <a:prstGeom prst="rect">
            <a:avLst/>
          </a:prstGeom>
          <a:solidFill>
            <a:srgbClr val="0029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65760" y="2807208"/>
            <a:ext cx="45720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L2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22960" y="2807208"/>
            <a:ext cx="5303520" cy="77724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60120" y="2852928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00295B"/>
                </a:solidFill>
                <a:latin typeface="微软雅黑"/>
              </a:rPr>
              <a:t>双通道扩容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60120" y="3191256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595959"/>
                </a:solidFill>
                <a:latin typeface="微软雅黑"/>
              </a:rPr>
              <a:t>目录纳入品种增量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749040" y="3035808"/>
            <a:ext cx="2286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1">
                <a:solidFill>
                  <a:srgbClr val="2E8B57"/>
                </a:solidFill>
                <a:latin typeface="微软雅黑"/>
              </a:rPr>
              <a:t>目标: &gt; 500 / 年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65760" y="3648456"/>
            <a:ext cx="457200" cy="777240"/>
          </a:xfrm>
          <a:prstGeom prst="rect">
            <a:avLst/>
          </a:prstGeom>
          <a:solidFill>
            <a:srgbClr val="0029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65760" y="3648456"/>
            <a:ext cx="45720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L3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22960" y="3648456"/>
            <a:ext cx="5303520" cy="77724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0120" y="3694176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00295B"/>
                </a:solidFill>
                <a:latin typeface="微软雅黑"/>
              </a:rPr>
              <a:t>商保目录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60120" y="4032504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595959"/>
                </a:solidFill>
                <a:latin typeface="微软雅黑"/>
              </a:rPr>
              <a:t>晖致品种进商保数量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749040" y="3877056"/>
            <a:ext cx="2286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1">
                <a:solidFill>
                  <a:srgbClr val="2E8B57"/>
                </a:solidFill>
                <a:latin typeface="微软雅黑"/>
              </a:rPr>
              <a:t>目标: ≥ 3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65760" y="4489704"/>
            <a:ext cx="457200" cy="777240"/>
          </a:xfrm>
          <a:prstGeom prst="rect">
            <a:avLst/>
          </a:prstGeom>
          <a:solidFill>
            <a:srgbClr val="0029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65760" y="4489704"/>
            <a:ext cx="45720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L4</a:t>
            </a:r>
          </a:p>
        </p:txBody>
      </p:sp>
      <p:sp>
        <p:nvSpPr>
          <p:cNvPr id="43" name="Rectangle 42"/>
          <p:cNvSpPr/>
          <p:nvPr/>
        </p:nvSpPr>
        <p:spPr>
          <a:xfrm>
            <a:off x="822960" y="4489704"/>
            <a:ext cx="5303520" cy="77724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60120" y="4535424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00295B"/>
                </a:solidFill>
                <a:latin typeface="微软雅黑"/>
              </a:rPr>
              <a:t>医院入院率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60120" y="4873752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595959"/>
                </a:solidFill>
                <a:latin typeface="微软雅黑"/>
              </a:rPr>
              <a:t>重点医院重新配备率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749040" y="4718304"/>
            <a:ext cx="2286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1">
                <a:solidFill>
                  <a:srgbClr val="2E8B57"/>
                </a:solidFill>
                <a:latin typeface="微软雅黑"/>
              </a:rPr>
              <a:t>目标: ≥ 60%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65760" y="5330952"/>
            <a:ext cx="457200" cy="777240"/>
          </a:xfrm>
          <a:prstGeom prst="rect">
            <a:avLst/>
          </a:prstGeom>
          <a:solidFill>
            <a:srgbClr val="0029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65760" y="5330952"/>
            <a:ext cx="45720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L5</a:t>
            </a:r>
          </a:p>
        </p:txBody>
      </p:sp>
      <p:sp>
        <p:nvSpPr>
          <p:cNvPr id="49" name="Rectangle 48"/>
          <p:cNvSpPr/>
          <p:nvPr/>
        </p:nvSpPr>
        <p:spPr>
          <a:xfrm>
            <a:off x="822960" y="5330952"/>
            <a:ext cx="5303520" cy="77724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960120" y="5376672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00295B"/>
                </a:solidFill>
                <a:latin typeface="微软雅黑"/>
              </a:rPr>
              <a:t>DRG 除外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60120" y="5715000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595959"/>
                </a:solidFill>
                <a:latin typeface="微软雅黑"/>
              </a:rPr>
              <a:t>原研单列除外品种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749040" y="5559552"/>
            <a:ext cx="2286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1">
                <a:solidFill>
                  <a:srgbClr val="2E8B57"/>
                </a:solidFill>
                <a:latin typeface="微软雅黑"/>
              </a:rPr>
              <a:t>目标: ≥ 50</a:t>
            </a:r>
          </a:p>
        </p:txBody>
      </p:sp>
      <p:sp>
        <p:nvSpPr>
          <p:cNvPr id="53" name="Rectangle 52"/>
          <p:cNvSpPr/>
          <p:nvPr/>
        </p:nvSpPr>
        <p:spPr>
          <a:xfrm>
            <a:off x="6309360" y="1965960"/>
            <a:ext cx="457200" cy="777240"/>
          </a:xfrm>
          <a:prstGeom prst="rect">
            <a:avLst/>
          </a:prstGeom>
          <a:solidFill>
            <a:srgbClr val="E871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309360" y="1965960"/>
            <a:ext cx="45720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F1</a:t>
            </a:r>
          </a:p>
        </p:txBody>
      </p:sp>
      <p:sp>
        <p:nvSpPr>
          <p:cNvPr id="55" name="Rectangle 54"/>
          <p:cNvSpPr/>
          <p:nvPr/>
        </p:nvSpPr>
        <p:spPr>
          <a:xfrm>
            <a:off x="6766560" y="1965960"/>
            <a:ext cx="5303520" cy="77724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903720" y="2011680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00295B"/>
                </a:solidFill>
                <a:latin typeface="微软雅黑"/>
              </a:rPr>
              <a:t>中国区收入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903720" y="2350008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595959"/>
                </a:solidFill>
                <a:latin typeface="微软雅黑"/>
              </a:rPr>
              <a:t>季度同比增速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9692640" y="2194560"/>
            <a:ext cx="2286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1">
                <a:solidFill>
                  <a:srgbClr val="2E8B57"/>
                </a:solidFill>
                <a:latin typeface="微软雅黑"/>
              </a:rPr>
              <a:t>目标: ≥ +5% YoY</a:t>
            </a:r>
          </a:p>
        </p:txBody>
      </p:sp>
      <p:sp>
        <p:nvSpPr>
          <p:cNvPr id="59" name="Rectangle 58"/>
          <p:cNvSpPr/>
          <p:nvPr/>
        </p:nvSpPr>
        <p:spPr>
          <a:xfrm>
            <a:off x="6309360" y="2807208"/>
            <a:ext cx="457200" cy="777240"/>
          </a:xfrm>
          <a:prstGeom prst="rect">
            <a:avLst/>
          </a:prstGeom>
          <a:solidFill>
            <a:srgbClr val="E871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6309360" y="2807208"/>
            <a:ext cx="45720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F2</a:t>
            </a:r>
          </a:p>
        </p:txBody>
      </p:sp>
      <p:sp>
        <p:nvSpPr>
          <p:cNvPr id="61" name="Rectangle 60"/>
          <p:cNvSpPr/>
          <p:nvPr/>
        </p:nvSpPr>
        <p:spPr>
          <a:xfrm>
            <a:off x="6766560" y="2807208"/>
            <a:ext cx="5303520" cy="77724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6903720" y="2852928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00295B"/>
                </a:solidFill>
                <a:latin typeface="微软雅黑"/>
              </a:rPr>
              <a:t>立普妥+络活喜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903720" y="3191256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595959"/>
                </a:solidFill>
                <a:latin typeface="微软雅黑"/>
              </a:rPr>
              <a:t>合计季度收入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9692640" y="3035808"/>
            <a:ext cx="2286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1">
                <a:solidFill>
                  <a:srgbClr val="2E8B57"/>
                </a:solidFill>
                <a:latin typeface="微软雅黑"/>
              </a:rPr>
              <a:t>目标: ≥ $300M/Q</a:t>
            </a:r>
          </a:p>
        </p:txBody>
      </p:sp>
      <p:sp>
        <p:nvSpPr>
          <p:cNvPr id="65" name="Rectangle 64"/>
          <p:cNvSpPr/>
          <p:nvPr/>
        </p:nvSpPr>
        <p:spPr>
          <a:xfrm>
            <a:off x="6309360" y="3648456"/>
            <a:ext cx="457200" cy="777240"/>
          </a:xfrm>
          <a:prstGeom prst="rect">
            <a:avLst/>
          </a:prstGeom>
          <a:solidFill>
            <a:srgbClr val="E871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6309360" y="3648456"/>
            <a:ext cx="45720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F3</a:t>
            </a:r>
          </a:p>
        </p:txBody>
      </p:sp>
      <p:sp>
        <p:nvSpPr>
          <p:cNvPr id="67" name="Rectangle 66"/>
          <p:cNvSpPr/>
          <p:nvPr/>
        </p:nvSpPr>
        <p:spPr>
          <a:xfrm>
            <a:off x="6766560" y="3648456"/>
            <a:ext cx="5303520" cy="77724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6903720" y="3694176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00295B"/>
                </a:solidFill>
                <a:latin typeface="微软雅黑"/>
              </a:rPr>
              <a:t>院内份额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6903720" y="4032504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595959"/>
                </a:solidFill>
                <a:latin typeface="微软雅黑"/>
              </a:rPr>
              <a:t>重点品种院内市占率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9692640" y="3877056"/>
            <a:ext cx="2286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1">
                <a:solidFill>
                  <a:srgbClr val="2E8B57"/>
                </a:solidFill>
                <a:latin typeface="微软雅黑"/>
              </a:rPr>
              <a:t>目标: 回升至 25-30%</a:t>
            </a:r>
          </a:p>
        </p:txBody>
      </p:sp>
      <p:sp>
        <p:nvSpPr>
          <p:cNvPr id="71" name="Rectangle 70"/>
          <p:cNvSpPr/>
          <p:nvPr/>
        </p:nvSpPr>
        <p:spPr>
          <a:xfrm>
            <a:off x="6309360" y="4489704"/>
            <a:ext cx="457200" cy="777240"/>
          </a:xfrm>
          <a:prstGeom prst="rect">
            <a:avLst/>
          </a:prstGeom>
          <a:solidFill>
            <a:srgbClr val="E871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6309360" y="4489704"/>
            <a:ext cx="45720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F4</a:t>
            </a:r>
          </a:p>
        </p:txBody>
      </p:sp>
      <p:sp>
        <p:nvSpPr>
          <p:cNvPr id="73" name="Rectangle 72"/>
          <p:cNvSpPr/>
          <p:nvPr/>
        </p:nvSpPr>
        <p:spPr>
          <a:xfrm>
            <a:off x="6766560" y="4489704"/>
            <a:ext cx="5303520" cy="77724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6903720" y="4535424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00295B"/>
                </a:solidFill>
                <a:latin typeface="微软雅黑"/>
              </a:rPr>
              <a:t>毛利率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6903720" y="4873752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595959"/>
                </a:solidFill>
                <a:latin typeface="微软雅黑"/>
              </a:rPr>
              <a:t>中国区品牌药 GP%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9692640" y="4718304"/>
            <a:ext cx="2286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1">
                <a:solidFill>
                  <a:srgbClr val="2E8B57"/>
                </a:solidFill>
                <a:latin typeface="微软雅黑"/>
              </a:rPr>
              <a:t>目标: 维持 60%+</a:t>
            </a:r>
          </a:p>
        </p:txBody>
      </p:sp>
      <p:sp>
        <p:nvSpPr>
          <p:cNvPr id="77" name="Rectangle 76"/>
          <p:cNvSpPr/>
          <p:nvPr/>
        </p:nvSpPr>
        <p:spPr>
          <a:xfrm>
            <a:off x="6309360" y="5330952"/>
            <a:ext cx="457200" cy="777240"/>
          </a:xfrm>
          <a:prstGeom prst="rect">
            <a:avLst/>
          </a:prstGeom>
          <a:solidFill>
            <a:srgbClr val="E871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6309360" y="5330952"/>
            <a:ext cx="45720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F5</a:t>
            </a:r>
          </a:p>
        </p:txBody>
      </p:sp>
      <p:sp>
        <p:nvSpPr>
          <p:cNvPr id="79" name="Rectangle 78"/>
          <p:cNvSpPr/>
          <p:nvPr/>
        </p:nvSpPr>
        <p:spPr>
          <a:xfrm>
            <a:off x="6766560" y="5330952"/>
            <a:ext cx="5303520" cy="77724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6903720" y="5376672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00295B"/>
                </a:solidFill>
                <a:latin typeface="微软雅黑"/>
              </a:rPr>
              <a:t>估值倍数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6903720" y="5715000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595959"/>
                </a:solidFill>
                <a:latin typeface="微软雅黑"/>
              </a:rPr>
              <a:t>VTRS forward P/E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9692640" y="5559552"/>
            <a:ext cx="2286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1">
                <a:solidFill>
                  <a:srgbClr val="2E8B57"/>
                </a:solidFill>
                <a:latin typeface="微软雅黑"/>
              </a:rPr>
              <a:t>目标: 重估 8x → 12x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365760" y="6263640"/>
            <a:ext cx="11430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B7B7B7"/>
                </a:solidFill>
                <a:latin typeface="微软雅黑"/>
              </a:rPr>
              <a:t>资料来源：建议跟踪信息源：国家医保局/各省医保局公告；Viatris 季度财报；米内网/IQVIA 月度终端数据；公开新闻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29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B7B7B7"/>
                </a:solidFill>
                <a:latin typeface="微软雅黑"/>
              </a:rPr>
              <a:t>晖致中国业绩影响研判  |  医保新政分析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24160" y="164592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B7B7B7"/>
                </a:solidFill>
                <a:latin typeface="微软雅黑"/>
              </a:rPr>
              <a:t>14 / 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411480"/>
            <a:ext cx="115214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00295B"/>
                </a:solidFill>
                <a:latin typeface="微软雅黑"/>
              </a:rPr>
              <a:t>附录：可溯源资料一览 (政策文件 / 财务数据 / 行业研究)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886968"/>
            <a:ext cx="115214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  <a:latin typeface="微软雅黑"/>
              </a:rPr>
              <a:t>全部为公开来源；政策类材料以官方原文为主，财务数据均可在公司投资者关系页面交叉验证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365760" y="1207008"/>
            <a:ext cx="11457432" cy="0"/>
          </a:xfrm>
          <a:prstGeom prst="line">
            <a:avLst/>
          </a:prstGeom>
          <a:ln w="15875">
            <a:solidFill>
              <a:srgbClr val="0029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365760" y="6537960"/>
            <a:ext cx="1463040" cy="22860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6537960"/>
            <a:ext cx="146304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50" b="1">
                <a:solidFill>
                  <a:srgbClr val="595959"/>
                </a:solidFill>
                <a:latin typeface="微软雅黑"/>
              </a:rPr>
              <a:t>1. 政策背景</a:t>
            </a:r>
          </a:p>
        </p:txBody>
      </p:sp>
      <p:sp>
        <p:nvSpPr>
          <p:cNvPr id="10" name="Rectangle 9"/>
          <p:cNvSpPr/>
          <p:nvPr/>
        </p:nvSpPr>
        <p:spPr>
          <a:xfrm>
            <a:off x="1920240" y="6537960"/>
            <a:ext cx="1463040" cy="22860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920240" y="6537960"/>
            <a:ext cx="146304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50" b="1">
                <a:solidFill>
                  <a:srgbClr val="595959"/>
                </a:solidFill>
                <a:latin typeface="微软雅黑"/>
              </a:rPr>
              <a:t>2. 新政详解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474720" y="6537960"/>
            <a:ext cx="1463040" cy="22860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74720" y="6537960"/>
            <a:ext cx="146304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50" b="1">
                <a:solidFill>
                  <a:srgbClr val="595959"/>
                </a:solidFill>
                <a:latin typeface="微软雅黑"/>
              </a:rPr>
              <a:t>3. 市场影响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0" y="6537960"/>
            <a:ext cx="1463040" cy="22860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0" y="6537960"/>
            <a:ext cx="146304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50" b="1">
                <a:solidFill>
                  <a:srgbClr val="595959"/>
                </a:solidFill>
                <a:latin typeface="微软雅黑"/>
              </a:rPr>
              <a:t>4. 晖致研判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583680" y="6537960"/>
            <a:ext cx="1463040" cy="22860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0" y="6537960"/>
            <a:ext cx="146304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50" b="1">
                <a:solidFill>
                  <a:srgbClr val="595959"/>
                </a:solidFill>
                <a:latin typeface="微软雅黑"/>
              </a:rPr>
              <a:t>5. 战略启示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0" y="6565392"/>
            <a:ext cx="18288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0">
                <a:solidFill>
                  <a:srgbClr val="B7B7B7"/>
                </a:solidFill>
                <a:latin typeface="微软雅黑"/>
              </a:rPr>
              <a:t>麦肯锡风格分析框架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" y="1463040"/>
            <a:ext cx="2194560" cy="411480"/>
          </a:xfrm>
          <a:prstGeom prst="rect">
            <a:avLst/>
          </a:prstGeom>
          <a:solidFill>
            <a:srgbClr val="0029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5760" y="1463040"/>
            <a:ext cx="219456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微软雅黑"/>
              </a:rPr>
              <a:t>一、官方政策文件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560320" y="1463040"/>
            <a:ext cx="9326880" cy="41148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697480" y="1920240"/>
            <a:ext cx="137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00295B"/>
                </a:solidFill>
                <a:latin typeface="微软雅黑"/>
              </a:rPr>
              <a:t>•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834640" y="1920240"/>
            <a:ext cx="9052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595959"/>
                </a:solidFill>
                <a:latin typeface="微软雅黑"/>
              </a:rPr>
              <a:t>国家医保局 国家卫生健康委《支持创新药高质量发展的若干措施》(医保发〔2025〕14号)，2025-07-01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97480" y="2212848"/>
            <a:ext cx="137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00295B"/>
                </a:solidFill>
                <a:latin typeface="微软雅黑"/>
              </a:rPr>
              <a:t>•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834640" y="2212848"/>
            <a:ext cx="9052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595959"/>
                </a:solidFill>
                <a:latin typeface="微软雅黑"/>
              </a:rPr>
              <a:t>国家医保局《2025年国家基本医保、生育、工伤药品目录及商业健康保险创新药品目录调整工作方案》，2025-07-10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697480" y="2505456"/>
            <a:ext cx="137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00295B"/>
                </a:solidFill>
                <a:latin typeface="微软雅黑"/>
              </a:rPr>
              <a:t>•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834640" y="2505456"/>
            <a:ext cx="9052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595959"/>
                </a:solidFill>
                <a:latin typeface="微软雅黑"/>
              </a:rPr>
              <a:t>国务院《关于推动药品集中带量采购工作常态化制度化开展的意见》(国办发〔2021〕2号)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697480" y="2798064"/>
            <a:ext cx="137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00295B"/>
                </a:solidFill>
                <a:latin typeface="微软雅黑"/>
              </a:rPr>
              <a:t>•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834640" y="2798064"/>
            <a:ext cx="9052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595959"/>
                </a:solidFill>
                <a:latin typeface="微软雅黑"/>
              </a:rPr>
              <a:t>上海市医保局《关于做好集采非中选药品医保支付管理的通知》(2026)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697480" y="3090672"/>
            <a:ext cx="137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00295B"/>
                </a:solidFill>
                <a:latin typeface="微软雅黑"/>
              </a:rPr>
              <a:t>•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834640" y="3090672"/>
            <a:ext cx="9052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595959"/>
                </a:solidFill>
                <a:latin typeface="微软雅黑"/>
              </a:rPr>
              <a:t>国家医保局历次国采中选结果公告 (第1批–第10批)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65760" y="3566160"/>
            <a:ext cx="2194560" cy="411480"/>
          </a:xfrm>
          <a:prstGeom prst="rect">
            <a:avLst/>
          </a:prstGeom>
          <a:solidFill>
            <a:srgbClr val="006B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65760" y="3566160"/>
            <a:ext cx="219456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微软雅黑"/>
              </a:rPr>
              <a:t>二、公司财务与披露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560320" y="3566160"/>
            <a:ext cx="9326880" cy="41148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697480" y="4023360"/>
            <a:ext cx="137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006BA6"/>
                </a:solidFill>
                <a:latin typeface="微软雅黑"/>
              </a:rPr>
              <a:t>•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834640" y="4023360"/>
            <a:ext cx="9052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595959"/>
                </a:solidFill>
                <a:latin typeface="微软雅黑"/>
              </a:rPr>
              <a:t>Viatris Inc. Form 10-K (2024)，US SEC EDGAR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697480" y="4315968"/>
            <a:ext cx="137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006BA6"/>
                </a:solidFill>
                <a:latin typeface="微软雅黑"/>
              </a:rPr>
              <a:t>•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834640" y="4315968"/>
            <a:ext cx="9052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595959"/>
                </a:solidFill>
                <a:latin typeface="微软雅黑"/>
              </a:rPr>
              <a:t>Viatris Q4 &amp; Full-Year 2024 Earnings Release &amp; Presentation (2025-02)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697480" y="4608576"/>
            <a:ext cx="137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006BA6"/>
                </a:solidFill>
                <a:latin typeface="微软雅黑"/>
              </a:rPr>
              <a:t>•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834640" y="4608576"/>
            <a:ext cx="9052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595959"/>
                </a:solidFill>
                <a:latin typeface="微软雅黑"/>
              </a:rPr>
              <a:t>Viatris Q2 2025 Earnings Release &amp; Presentation (2025-08)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697480" y="4901184"/>
            <a:ext cx="137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006BA6"/>
                </a:solidFill>
                <a:latin typeface="微软雅黑"/>
              </a:rPr>
              <a:t>•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834640" y="4901184"/>
            <a:ext cx="9052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595959"/>
                </a:solidFill>
                <a:latin typeface="微软雅黑"/>
              </a:rPr>
              <a:t>Viatris 中国官网 (viatris.com.cn) — 产品组合披露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65760" y="5376672"/>
            <a:ext cx="2194560" cy="411480"/>
          </a:xfrm>
          <a:prstGeom prst="rect">
            <a:avLst/>
          </a:prstGeom>
          <a:solidFill>
            <a:srgbClr val="E871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65760" y="5376672"/>
            <a:ext cx="219456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微软雅黑"/>
              </a:rPr>
              <a:t>三、行业研究与第三方数据</a:t>
            </a:r>
          </a:p>
        </p:txBody>
      </p:sp>
      <p:sp>
        <p:nvSpPr>
          <p:cNvPr id="45" name="Rectangle 44"/>
          <p:cNvSpPr/>
          <p:nvPr/>
        </p:nvSpPr>
        <p:spPr>
          <a:xfrm>
            <a:off x="2560320" y="5376672"/>
            <a:ext cx="9326880" cy="41148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2697480" y="5833872"/>
            <a:ext cx="137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E87122"/>
                </a:solidFill>
                <a:latin typeface="微软雅黑"/>
              </a:rPr>
              <a:t>•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834640" y="5833872"/>
            <a:ext cx="9052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595959"/>
                </a:solidFill>
                <a:latin typeface="微软雅黑"/>
              </a:rPr>
              <a:t>IQVIA China Pharmaceutical Review (2023-2024)；米内网终端销售数据库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2697480" y="6126480"/>
            <a:ext cx="137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E87122"/>
                </a:solidFill>
                <a:latin typeface="微软雅黑"/>
              </a:rPr>
              <a:t>•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2834640" y="6126480"/>
            <a:ext cx="9052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595959"/>
                </a:solidFill>
                <a:latin typeface="微软雅黑"/>
              </a:rPr>
              <a:t>弗若斯特沙利文《中国医药市场展望 2024-2030》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697480" y="6419088"/>
            <a:ext cx="137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E87122"/>
                </a:solidFill>
                <a:latin typeface="微软雅黑"/>
              </a:rPr>
              <a:t>•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2834640" y="6419088"/>
            <a:ext cx="9052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595959"/>
                </a:solidFill>
                <a:latin typeface="微软雅黑"/>
              </a:rPr>
              <a:t>Endpoints News、PharmaIntelligence 公开报道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2697480" y="6711696"/>
            <a:ext cx="137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E87122"/>
                </a:solidFill>
                <a:latin typeface="微软雅黑"/>
              </a:rPr>
              <a:t>•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2834640" y="6711696"/>
            <a:ext cx="9052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595959"/>
                </a:solidFill>
                <a:latin typeface="微软雅黑"/>
              </a:rPr>
              <a:t>雪球、知乎专业研究专栏 (华义文随笔等)；新浪财经、虎嗅、界面新闻、新华社相关报道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65760" y="6172200"/>
            <a:ext cx="11430000" cy="274320"/>
          </a:xfrm>
          <a:prstGeom prst="rect">
            <a:avLst/>
          </a:prstGeom>
          <a:solidFill>
            <a:srgbClr val="CFE2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457200" y="6172200"/>
            <a:ext cx="1133856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>
                <a:solidFill>
                  <a:srgbClr val="00295B"/>
                </a:solidFill>
                <a:latin typeface="微软雅黑"/>
              </a:rPr>
              <a:t>免责声明：本报告基于公开信息分析，仅供研究参考；不构成投资建议。数据截至 2026 年 5 月。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